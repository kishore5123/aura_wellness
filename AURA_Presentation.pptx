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[your name] and today I'll be presenting AURA — an AI-powered mental and physical wellness companion I built for my final web development project. Let me start by showing you what inspired this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students are managing mental health, physical fitness, nutrition, sleep, and goals across 4-5 separate apps. Each one is a separate subscription. None share data. So you get generic advice that doesn't actually know you. AURA was built to solve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AURA is the single AI that connects all of these together. It knows your mood from the counselor chat, your sleep from your wearable, your steps for the day, and your goals. So when it gives you advice — it's actually personalised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has two camps: mental health apps that ignore your body, and fitness trackers that ignore your mind. Research shows the combination has the strongest impact on wellbeing. Nobody has built both in one place — that's AURA's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BROWSER NOW. Walk through each step: 1) Show onboarding form, fill in details, connect a device, drag it to primary slot. 2) Show dashboard — wellness ring, stats. 3) Open AI Counselor, type a message, show AI response. 4) Log some health data, show history. 5) Add a goal, drag to reorder. Total demo: 3 minutes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3 files — index.html, style.css, and script.js. No frameworks, no libraries, no shortcuts. Everything from the canvas ring to the drag and drop to the AI chat is written in pure vanilla JavaScript. Total: nearly 2,800 lines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most visually impressive skills. The Canvas API draws the wellness ring — I calculate the arc angle from the score using Math.PI, then stroke it with a gradient. DOM Manipulation is how every goal card, chat message, and history item gets built — createElement, set properties, appendChild. None of this is hardcoded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Fetch API is how AURA talks to the real Anthropic Claude AI. I send the user's message plus their health context — sleep, steps, mood — in the system prompt so the AI knows who it's talking to. Local Storage means nothing is lost when you close the browser — profile, health logs, goals all persist. JSON.stringify converts objects to strings for storage, JSON.parse converts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Drag and Drop uses 5 events — the critical one is dragover must call e.preventDefault() or the drop event never fires. For goal reordering, I use array splice to move items. For function types — I have all three: standard declarations, anonymous callbacks on event listeners, and arrow functions for async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bug I fixed. Canvas elements don't clear themselves — every time I called drawWellnessRing() without clearing first, the old ring was still there underneath the new one. The fix was one line: ctx.clearRect() at the start of every draw function. This taught me that Canvas is fundamentally different from DOM — it's more like painting on a physical canvas, not updating a webpage.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things that genuinely surprised me. Scope was abstract in class but became obvious when I had a bug where a variable was undefined because I used let inside an if block and tried to access it outside. Async/await clicked when I saw the typing indicator working. JSON serialisation explained something I never fully understood about data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reflection. The biggest technical lesson is modular code — one 1,388-line file works but becomes hard to navigate. In a real project this would be split into separate modules. The accessibility point is important — the dark navy theme looks premium but I should have verified contrast ratios against WCAG standards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genuinely the foundation of something bigger. I have 3 years of ML/DL/LLM experience alongside this web development work. The RAG architecture is something I can implement with Python and LangChain. The real AURA vision is a product I intend to build — this assignment is its first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Thank the examiners. Pause here before Q&amp;A begins. Stay calm — you built every line of this, you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731520" y="-731520"/>
            <a:ext cx="3200400" cy="3200400"/>
          </a:xfrm>
          <a:prstGeom prst="ellipse">
            <a:avLst/>
          </a:prstGeom>
          <a:solidFill>
            <a:srgbClr val="7C3AED">
              <a:alpha val="22000"/>
            </a:srgbClr>
          </a:solidFill>
          <a:ln w="12700">
            <a:solidFill>
              <a:srgbClr val="7C3AED"/>
            </a:solidFill>
            <a:prstDash val="solid"/>
          </a:ln>
        </p:spPr>
      </p:sp>
      <p:sp>
        <p:nvSpPr>
          <p:cNvPr id="3" name="Shape 1"/>
          <p:cNvSpPr/>
          <p:nvPr/>
        </p:nvSpPr>
        <p:spPr>
          <a:xfrm>
            <a:off x="7498080" y="3200400"/>
            <a:ext cx="2743200" cy="2743200"/>
          </a:xfrm>
          <a:prstGeom prst="ellipse">
            <a:avLst/>
          </a:prstGeom>
          <a:solidFill>
            <a:srgbClr val="059669">
              <a:alpha val="20000"/>
            </a:srgbClr>
          </a:solidFill>
          <a:ln w="12700">
            <a:solidFill>
              <a:srgbClr val="059669"/>
            </a:solidFill>
            <a:prstDash val="solid"/>
          </a:ln>
        </p:spPr>
      </p:sp>
      <p:sp>
        <p:nvSpPr>
          <p:cNvPr id="4" name="Shape 2"/>
          <p:cNvSpPr/>
          <p:nvPr/>
        </p:nvSpPr>
        <p:spPr>
          <a:xfrm>
            <a:off x="3657600" y="1371600"/>
            <a:ext cx="1828800" cy="1828800"/>
          </a:xfrm>
          <a:prstGeom prst="ellipse">
            <a:avLst/>
          </a:prstGeom>
          <a:solidFill>
            <a:srgbClr val="D97706">
              <a:alpha val="12000"/>
            </a:srgbClr>
          </a:solidFill>
          <a:ln w="12700">
            <a:solidFill>
              <a:srgbClr val="D97706"/>
            </a:solidFill>
            <a:prstDash val="solid"/>
          </a:ln>
        </p:spPr>
      </p:sp>
      <p:sp>
        <p:nvSpPr>
          <p:cNvPr id="5" name="Shape 3"/>
          <p:cNvSpPr/>
          <p:nvPr/>
        </p:nvSpPr>
        <p:spPr>
          <a:xfrm>
            <a:off x="4114800" y="502920"/>
            <a:ext cx="914400" cy="914400"/>
          </a:xfrm>
          <a:prstGeom prst="roundRect">
            <a:avLst>
              <a:gd name="adj" fmla="val 22000"/>
            </a:avLst>
          </a:prstGeom>
          <a:solidFill>
            <a:srgbClr val="7C3AED"/>
          </a:solidFill>
          <a:ln w="6350">
            <a:solidFill>
              <a:srgbClr val="C4B5FD"/>
            </a:solidFill>
            <a:prstDash val="solid"/>
          </a:ln>
        </p:spPr>
      </p:sp>
      <p:sp>
        <p:nvSpPr>
          <p:cNvPr id="6" name="Text 4"/>
          <p:cNvSpPr/>
          <p:nvPr/>
        </p:nvSpPr>
        <p:spPr>
          <a:xfrm>
            <a:off x="4114800" y="502920"/>
            <a:ext cx="914400" cy="914400"/>
          </a:xfrm>
          <a:prstGeom prst="rect">
            <a:avLst/>
          </a:prstGeom>
          <a:noFill/>
          <a:ln/>
        </p:spPr>
        <p:txBody>
          <a:bodyPr wrap="square" lIns="0" tIns="0" rIns="0" bIns="0" rtlCol="0" anchor="ctr"/>
          <a:lstStyle/>
          <a:p>
            <a:pPr algn="ctr" indent="0" marL="0">
              <a:buNone/>
            </a:pPr>
            <a:r>
              <a:rPr lang="en-US" sz="2800" dirty="0">
                <a:solidFill>
                  <a:srgbClr val="F1F5F9"/>
                </a:solidFill>
                <a:latin typeface="Calibri" pitchFamily="34" charset="0"/>
                <a:ea typeface="Calibri" pitchFamily="34" charset="-122"/>
                <a:cs typeface="Calibri" pitchFamily="34" charset="-120"/>
              </a:rPr>
              <a:t>✦</a:t>
            </a:r>
            <a:endParaRPr lang="en-US" sz="2800" dirty="0"/>
          </a:p>
        </p:txBody>
      </p:sp>
      <p:sp>
        <p:nvSpPr>
          <p:cNvPr id="7" name="Text 5"/>
          <p:cNvSpPr/>
          <p:nvPr/>
        </p:nvSpPr>
        <p:spPr>
          <a:xfrm>
            <a:off x="914400" y="1572768"/>
            <a:ext cx="7315200" cy="822960"/>
          </a:xfrm>
          <a:prstGeom prst="rect">
            <a:avLst/>
          </a:prstGeom>
          <a:noFill/>
          <a:ln/>
        </p:spPr>
        <p:txBody>
          <a:bodyPr wrap="square" lIns="0" tIns="0" rIns="0" bIns="0" rtlCol="0" anchor="ctr"/>
          <a:lstStyle/>
          <a:p>
            <a:pPr algn="ctr" indent="0" marL="0">
              <a:buNone/>
            </a:pPr>
            <a:r>
              <a:rPr lang="en-US" sz="6400" b="1" dirty="0">
                <a:solidFill>
                  <a:srgbClr val="C4B5FD"/>
                </a:solidFill>
                <a:latin typeface="Calibri" pitchFamily="34" charset="0"/>
                <a:ea typeface="Calibri" pitchFamily="34" charset="-122"/>
                <a:cs typeface="Calibri" pitchFamily="34" charset="-120"/>
              </a:rPr>
              <a:t>AURA</a:t>
            </a:r>
            <a:endParaRPr lang="en-US" sz="6400" dirty="0"/>
          </a:p>
        </p:txBody>
      </p:sp>
      <p:sp>
        <p:nvSpPr>
          <p:cNvPr id="8" name="Text 6"/>
          <p:cNvSpPr/>
          <p:nvPr/>
        </p:nvSpPr>
        <p:spPr>
          <a:xfrm>
            <a:off x="914400" y="2377440"/>
            <a:ext cx="7315200" cy="365760"/>
          </a:xfrm>
          <a:prstGeom prst="rect">
            <a:avLst/>
          </a:prstGeom>
          <a:noFill/>
          <a:ln/>
        </p:spPr>
        <p:txBody>
          <a:bodyPr wrap="square" lIns="0" tIns="0" rIns="0" bIns="0" rtlCol="0" anchor="ctr"/>
          <a:lstStyle/>
          <a:p>
            <a:pPr algn="ctr" indent="0" marL="0">
              <a:buNone/>
            </a:pPr>
            <a:r>
              <a:rPr lang="en-US" sz="1800" i="1" dirty="0">
                <a:solidFill>
                  <a:srgbClr val="6EE7B7"/>
                </a:solidFill>
                <a:latin typeface="Calibri" pitchFamily="34" charset="0"/>
                <a:ea typeface="Calibri" pitchFamily="34" charset="-122"/>
                <a:cs typeface="Calibri" pitchFamily="34" charset="-120"/>
              </a:rPr>
              <a:t>AI Wellness Companion</a:t>
            </a:r>
            <a:endParaRPr lang="en-US" sz="1800" dirty="0"/>
          </a:p>
        </p:txBody>
      </p:sp>
      <p:sp>
        <p:nvSpPr>
          <p:cNvPr id="9" name="Text 7"/>
          <p:cNvSpPr/>
          <p:nvPr/>
        </p:nvSpPr>
        <p:spPr>
          <a:xfrm>
            <a:off x="914400" y="2788920"/>
            <a:ext cx="7315200" cy="27432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HTML · CSS · Vanilla JavaScript</a:t>
            </a:r>
            <a:endParaRPr lang="en-US" sz="1200" dirty="0"/>
          </a:p>
        </p:txBody>
      </p:sp>
      <p:sp>
        <p:nvSpPr>
          <p:cNvPr id="10" name="Shape 8"/>
          <p:cNvSpPr/>
          <p:nvPr/>
        </p:nvSpPr>
        <p:spPr>
          <a:xfrm>
            <a:off x="1188720" y="3246120"/>
            <a:ext cx="1554480" cy="256032"/>
          </a:xfrm>
          <a:prstGeom prst="roundRect">
            <a:avLst>
              <a:gd name="adj" fmla="val 42857"/>
            </a:avLst>
          </a:prstGeom>
          <a:solidFill>
            <a:srgbClr val="7C3AED"/>
          </a:solidFill>
          <a:ln w="6350">
            <a:solidFill>
              <a:srgbClr val="C4B5FD"/>
            </a:solidFill>
            <a:prstDash val="solid"/>
          </a:ln>
        </p:spPr>
      </p:sp>
      <p:sp>
        <p:nvSpPr>
          <p:cNvPr id="11" name="Text 9"/>
          <p:cNvSpPr/>
          <p:nvPr/>
        </p:nvSpPr>
        <p:spPr>
          <a:xfrm>
            <a:off x="1188720" y="3246120"/>
            <a:ext cx="1554480" cy="256032"/>
          </a:xfrm>
          <a:prstGeom prst="rect">
            <a:avLst/>
          </a:prstGeom>
          <a:noFill/>
          <a:ln/>
        </p:spPr>
        <p:txBody>
          <a:bodyPr wrap="square" lIns="0" tIns="0" rIns="0" bIns="0" rtlCol="0" anchor="ctr"/>
          <a:lstStyle/>
          <a:p>
            <a:pPr algn="ctr" indent="0" marL="0">
              <a:buNone/>
            </a:pPr>
            <a:r>
              <a:rPr lang="en-US" sz="900" dirty="0">
                <a:solidFill>
                  <a:srgbClr val="C4B5FD"/>
                </a:solidFill>
                <a:latin typeface="Calibri" pitchFamily="34" charset="0"/>
                <a:ea typeface="Calibri" pitchFamily="34" charset="-122"/>
                <a:cs typeface="Calibri" pitchFamily="34" charset="-120"/>
              </a:rPr>
              <a:t>Mental Health AI</a:t>
            </a:r>
            <a:endParaRPr lang="en-US" sz="900" dirty="0"/>
          </a:p>
        </p:txBody>
      </p:sp>
      <p:sp>
        <p:nvSpPr>
          <p:cNvPr id="12" name="Shape 10"/>
          <p:cNvSpPr/>
          <p:nvPr/>
        </p:nvSpPr>
        <p:spPr>
          <a:xfrm>
            <a:off x="2926080" y="3246120"/>
            <a:ext cx="1554480" cy="256032"/>
          </a:xfrm>
          <a:prstGeom prst="roundRect">
            <a:avLst>
              <a:gd name="adj" fmla="val 42857"/>
            </a:avLst>
          </a:prstGeom>
          <a:solidFill>
            <a:srgbClr val="7C3AED"/>
          </a:solidFill>
          <a:ln w="6350">
            <a:solidFill>
              <a:srgbClr val="C4B5FD"/>
            </a:solidFill>
            <a:prstDash val="solid"/>
          </a:ln>
        </p:spPr>
      </p:sp>
      <p:sp>
        <p:nvSpPr>
          <p:cNvPr id="13" name="Text 11"/>
          <p:cNvSpPr/>
          <p:nvPr/>
        </p:nvSpPr>
        <p:spPr>
          <a:xfrm>
            <a:off x="2926080" y="3246120"/>
            <a:ext cx="1554480" cy="256032"/>
          </a:xfrm>
          <a:prstGeom prst="rect">
            <a:avLst/>
          </a:prstGeom>
          <a:noFill/>
          <a:ln/>
        </p:spPr>
        <p:txBody>
          <a:bodyPr wrap="square" lIns="0" tIns="0" rIns="0" bIns="0" rtlCol="0" anchor="ctr"/>
          <a:lstStyle/>
          <a:p>
            <a:pPr algn="ctr" indent="0" marL="0">
              <a:buNone/>
            </a:pPr>
            <a:r>
              <a:rPr lang="en-US" sz="900" dirty="0">
                <a:solidFill>
                  <a:srgbClr val="C4B5FD"/>
                </a:solidFill>
                <a:latin typeface="Calibri" pitchFamily="34" charset="0"/>
                <a:ea typeface="Calibri" pitchFamily="34" charset="-122"/>
                <a:cs typeface="Calibri" pitchFamily="34" charset="-120"/>
              </a:rPr>
              <a:t>Physical Tracking</a:t>
            </a:r>
            <a:endParaRPr lang="en-US" sz="900" dirty="0"/>
          </a:p>
        </p:txBody>
      </p:sp>
      <p:sp>
        <p:nvSpPr>
          <p:cNvPr id="14" name="Shape 12"/>
          <p:cNvSpPr/>
          <p:nvPr/>
        </p:nvSpPr>
        <p:spPr>
          <a:xfrm>
            <a:off x="4663440" y="3246120"/>
            <a:ext cx="1554480" cy="256032"/>
          </a:xfrm>
          <a:prstGeom prst="roundRect">
            <a:avLst>
              <a:gd name="adj" fmla="val 42857"/>
            </a:avLst>
          </a:prstGeom>
          <a:solidFill>
            <a:srgbClr val="7C3AED"/>
          </a:solidFill>
          <a:ln w="6350">
            <a:solidFill>
              <a:srgbClr val="C4B5FD"/>
            </a:solidFill>
            <a:prstDash val="solid"/>
          </a:ln>
        </p:spPr>
      </p:sp>
      <p:sp>
        <p:nvSpPr>
          <p:cNvPr id="15" name="Text 13"/>
          <p:cNvSpPr/>
          <p:nvPr/>
        </p:nvSpPr>
        <p:spPr>
          <a:xfrm>
            <a:off x="4663440" y="3246120"/>
            <a:ext cx="1554480" cy="256032"/>
          </a:xfrm>
          <a:prstGeom prst="rect">
            <a:avLst/>
          </a:prstGeom>
          <a:noFill/>
          <a:ln/>
        </p:spPr>
        <p:txBody>
          <a:bodyPr wrap="square" lIns="0" tIns="0" rIns="0" bIns="0" rtlCol="0" anchor="ctr"/>
          <a:lstStyle/>
          <a:p>
            <a:pPr algn="ctr" indent="0" marL="0">
              <a:buNone/>
            </a:pPr>
            <a:r>
              <a:rPr lang="en-US" sz="900" dirty="0">
                <a:solidFill>
                  <a:srgbClr val="C4B5FD"/>
                </a:solidFill>
                <a:latin typeface="Calibri" pitchFamily="34" charset="0"/>
                <a:ea typeface="Calibri" pitchFamily="34" charset="-122"/>
                <a:cs typeface="Calibri" pitchFamily="34" charset="-120"/>
              </a:rPr>
              <a:t>Wearable Integration</a:t>
            </a:r>
            <a:endParaRPr lang="en-US" sz="900" dirty="0"/>
          </a:p>
        </p:txBody>
      </p:sp>
      <p:sp>
        <p:nvSpPr>
          <p:cNvPr id="16" name="Shape 14"/>
          <p:cNvSpPr/>
          <p:nvPr/>
        </p:nvSpPr>
        <p:spPr>
          <a:xfrm>
            <a:off x="6400800" y="3246120"/>
            <a:ext cx="1554480" cy="256032"/>
          </a:xfrm>
          <a:prstGeom prst="roundRect">
            <a:avLst>
              <a:gd name="adj" fmla="val 42857"/>
            </a:avLst>
          </a:prstGeom>
          <a:solidFill>
            <a:srgbClr val="7C3AED"/>
          </a:solidFill>
          <a:ln w="6350">
            <a:solidFill>
              <a:srgbClr val="C4B5FD"/>
            </a:solidFill>
            <a:prstDash val="solid"/>
          </a:ln>
        </p:spPr>
      </p:sp>
      <p:sp>
        <p:nvSpPr>
          <p:cNvPr id="17" name="Text 15"/>
          <p:cNvSpPr/>
          <p:nvPr/>
        </p:nvSpPr>
        <p:spPr>
          <a:xfrm>
            <a:off x="6400800" y="3246120"/>
            <a:ext cx="1554480" cy="256032"/>
          </a:xfrm>
          <a:prstGeom prst="rect">
            <a:avLst/>
          </a:prstGeom>
          <a:noFill/>
          <a:ln/>
        </p:spPr>
        <p:txBody>
          <a:bodyPr wrap="square" lIns="0" tIns="0" rIns="0" bIns="0" rtlCol="0" anchor="ctr"/>
          <a:lstStyle/>
          <a:p>
            <a:pPr algn="ctr" indent="0" marL="0">
              <a:buNone/>
            </a:pPr>
            <a:r>
              <a:rPr lang="en-US" sz="900" dirty="0">
                <a:solidFill>
                  <a:srgbClr val="C4B5FD"/>
                </a:solidFill>
                <a:latin typeface="Calibri" pitchFamily="34" charset="0"/>
                <a:ea typeface="Calibri" pitchFamily="34" charset="-122"/>
                <a:cs typeface="Calibri" pitchFamily="34" charset="-120"/>
              </a:rPr>
              <a:t>Goal Management</a:t>
            </a:r>
            <a:endParaRPr lang="en-US" sz="900" dirty="0"/>
          </a:p>
        </p:txBody>
      </p:sp>
      <p:sp>
        <p:nvSpPr>
          <p:cNvPr id="18" name="Text 16"/>
          <p:cNvSpPr/>
          <p:nvPr/>
        </p:nvSpPr>
        <p:spPr>
          <a:xfrm>
            <a:off x="914400" y="4389120"/>
            <a:ext cx="7315200" cy="228600"/>
          </a:xfrm>
          <a:prstGeom prst="rect">
            <a:avLst/>
          </a:prstGeom>
          <a:noFill/>
          <a:ln/>
        </p:spPr>
        <p:txBody>
          <a:bodyPr wrap="square" lIns="0" tIns="0" rIns="0" bIns="0" rtlCol="0" anchor="ctr"/>
          <a:lstStyle/>
          <a:p>
            <a:pPr algn="ctr" indent="0" marL="0">
              <a:buNone/>
            </a:pPr>
            <a:r>
              <a:rPr lang="en-US" sz="900" dirty="0">
                <a:solidFill>
                  <a:srgbClr val="334155"/>
                </a:solidFill>
                <a:latin typeface="Calibri" pitchFamily="34" charset="0"/>
                <a:ea typeface="Calibri" pitchFamily="34" charset="-122"/>
                <a:cs typeface="Calibri" pitchFamily="34" charset="-120"/>
              </a:rPr>
              <a:t>Spring Semester 2025  ·  Helvetic Institute of Technology  ·  Individual Project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2743200"/>
            <a:ext cx="2286000" cy="2286000"/>
          </a:xfrm>
          <a:prstGeom prst="ellipse">
            <a:avLst/>
          </a:prstGeom>
          <a:solidFill>
            <a:srgbClr val="7C3AED">
              <a:alpha val="15000"/>
            </a:srgbClr>
          </a:solidFill>
          <a:ln w="12700">
            <a:solidFill>
              <a:srgbClr val="7C3AED"/>
            </a:solidFill>
            <a:prstDash val="solid"/>
          </a:ln>
        </p:spPr>
      </p:sp>
      <p:sp>
        <p:nvSpPr>
          <p:cNvPr id="3" name="Text 1"/>
          <p:cNvSpPr/>
          <p:nvPr/>
        </p:nvSpPr>
        <p:spPr>
          <a:xfrm>
            <a:off x="457200" y="594360"/>
            <a:ext cx="8229600" cy="502920"/>
          </a:xfrm>
          <a:prstGeom prst="rect">
            <a:avLst/>
          </a:prstGeom>
          <a:noFill/>
          <a:ln/>
        </p:spPr>
        <p:txBody>
          <a:bodyPr wrap="square" lIns="0" tIns="0" rIns="0" bIns="0" rtlCol="0" anchor="ctr"/>
          <a:lstStyle/>
          <a:p>
            <a:pPr algn="l" indent="0" marL="0">
              <a:buNone/>
            </a:pPr>
            <a:r>
              <a:rPr lang="en-US" sz="3000" b="1" dirty="0">
                <a:solidFill>
                  <a:srgbClr val="F1F5F9"/>
                </a:solidFill>
                <a:latin typeface="Calibri" pitchFamily="34" charset="0"/>
                <a:ea typeface="Calibri" pitchFamily="34" charset="-122"/>
                <a:cs typeface="Calibri" pitchFamily="34" charset="-120"/>
              </a:rPr>
              <a:t>The problem I wanted to solve</a:t>
            </a:r>
            <a:endParaRPr lang="en-US" sz="3000" dirty="0"/>
          </a:p>
        </p:txBody>
      </p:sp>
      <p:sp>
        <p:nvSpPr>
          <p:cNvPr id="4" name="Shape 2"/>
          <p:cNvSpPr/>
          <p:nvPr/>
        </p:nvSpPr>
        <p:spPr>
          <a:xfrm>
            <a:off x="365760" y="1261872"/>
            <a:ext cx="8412480" cy="713232"/>
          </a:xfrm>
          <a:prstGeom prst="roundRect">
            <a:avLst>
              <a:gd name="adj" fmla="val 12821"/>
            </a:avLst>
          </a:prstGeom>
          <a:solidFill>
            <a:srgbClr val="131C2E"/>
          </a:solidFill>
          <a:ln w="6350">
            <a:solidFill>
              <a:srgbClr val="1E3A5F"/>
            </a:solidFill>
            <a:prstDash val="solid"/>
          </a:ln>
        </p:spPr>
      </p:sp>
      <p:sp>
        <p:nvSpPr>
          <p:cNvPr id="5" name="Text 3"/>
          <p:cNvSpPr/>
          <p:nvPr/>
        </p:nvSpPr>
        <p:spPr>
          <a:xfrm>
            <a:off x="502920" y="1261872"/>
            <a:ext cx="457200" cy="713232"/>
          </a:xfrm>
          <a:prstGeom prst="rect">
            <a:avLst/>
          </a:prstGeom>
          <a:noFill/>
          <a:ln/>
        </p:spPr>
        <p:txBody>
          <a:bodyPr wrap="square" lIns="0" tIns="0" rIns="0" bIns="0" rtlCol="0" anchor="ctr"/>
          <a:lstStyle/>
          <a:p>
            <a:pPr algn="ctr" indent="0" marL="0">
              <a:buNone/>
            </a:pPr>
            <a:r>
              <a:rPr lang="en-US" sz="2000" dirty="0">
                <a:solidFill>
                  <a:srgbClr val="F1F5F9"/>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1051560" y="1316736"/>
            <a:ext cx="2286000" cy="256032"/>
          </a:xfrm>
          <a:prstGeom prst="rect">
            <a:avLst/>
          </a:prstGeom>
          <a:noFill/>
          <a:ln/>
        </p:spPr>
        <p:txBody>
          <a:bodyPr wrap="square" lIns="0" tIns="0" rIns="0" bIns="0" rtlCol="0" anchor="ctr"/>
          <a:lstStyle/>
          <a:p>
            <a:pPr algn="l" indent="0" marL="0">
              <a:buNone/>
            </a:pPr>
            <a:r>
              <a:rPr lang="en-US" sz="1300" b="1" dirty="0">
                <a:solidFill>
                  <a:srgbClr val="F1F5F9"/>
                </a:solidFill>
                <a:latin typeface="Calibri" pitchFamily="34" charset="0"/>
                <a:ea typeface="Calibri" pitchFamily="34" charset="-122"/>
                <a:cs typeface="Calibri" pitchFamily="34" charset="-120"/>
              </a:rPr>
              <a:t>Mental health apps</a:t>
            </a:r>
            <a:endParaRPr lang="en-US" sz="1300" dirty="0"/>
          </a:p>
        </p:txBody>
      </p:sp>
      <p:sp>
        <p:nvSpPr>
          <p:cNvPr id="7" name="Text 5"/>
          <p:cNvSpPr/>
          <p:nvPr/>
        </p:nvSpPr>
        <p:spPr>
          <a:xfrm>
            <a:off x="1051560" y="1591056"/>
            <a:ext cx="713232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Wysa, Woebot — emotional support only. No physical context.</a:t>
            </a:r>
            <a:endParaRPr lang="en-US" sz="1000" dirty="0"/>
          </a:p>
        </p:txBody>
      </p:sp>
      <p:sp>
        <p:nvSpPr>
          <p:cNvPr id="8" name="Shape 6"/>
          <p:cNvSpPr/>
          <p:nvPr/>
        </p:nvSpPr>
        <p:spPr>
          <a:xfrm>
            <a:off x="365760" y="2130552"/>
            <a:ext cx="8412480" cy="713232"/>
          </a:xfrm>
          <a:prstGeom prst="roundRect">
            <a:avLst>
              <a:gd name="adj" fmla="val 12821"/>
            </a:avLst>
          </a:prstGeom>
          <a:solidFill>
            <a:srgbClr val="131C2E"/>
          </a:solidFill>
          <a:ln w="6350">
            <a:solidFill>
              <a:srgbClr val="1E3A5F"/>
            </a:solidFill>
            <a:prstDash val="solid"/>
          </a:ln>
        </p:spPr>
      </p:sp>
      <p:sp>
        <p:nvSpPr>
          <p:cNvPr id="9" name="Text 7"/>
          <p:cNvSpPr/>
          <p:nvPr/>
        </p:nvSpPr>
        <p:spPr>
          <a:xfrm>
            <a:off x="502920" y="2130552"/>
            <a:ext cx="457200" cy="713232"/>
          </a:xfrm>
          <a:prstGeom prst="rect">
            <a:avLst/>
          </a:prstGeom>
          <a:noFill/>
          <a:ln/>
        </p:spPr>
        <p:txBody>
          <a:bodyPr wrap="square" lIns="0" tIns="0" rIns="0" bIns="0" rtlCol="0" anchor="ctr"/>
          <a:lstStyle/>
          <a:p>
            <a:pPr algn="ctr" indent="0" marL="0">
              <a:buNone/>
            </a:pPr>
            <a:r>
              <a:rPr lang="en-US" sz="2000" dirty="0">
                <a:solidFill>
                  <a:srgbClr val="F1F5F9"/>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1051560" y="2185416"/>
            <a:ext cx="2286000" cy="256032"/>
          </a:xfrm>
          <a:prstGeom prst="rect">
            <a:avLst/>
          </a:prstGeom>
          <a:noFill/>
          <a:ln/>
        </p:spPr>
        <p:txBody>
          <a:bodyPr wrap="square" lIns="0" tIns="0" rIns="0" bIns="0" rtlCol="0" anchor="ctr"/>
          <a:lstStyle/>
          <a:p>
            <a:pPr algn="l" indent="0" marL="0">
              <a:buNone/>
            </a:pPr>
            <a:r>
              <a:rPr lang="en-US" sz="1300" b="1" dirty="0">
                <a:solidFill>
                  <a:srgbClr val="F1F5F9"/>
                </a:solidFill>
                <a:latin typeface="Calibri" pitchFamily="34" charset="0"/>
                <a:ea typeface="Calibri" pitchFamily="34" charset="-122"/>
                <a:cs typeface="Calibri" pitchFamily="34" charset="-120"/>
              </a:rPr>
              <a:t>Fitness trackers</a:t>
            </a:r>
            <a:endParaRPr lang="en-US" sz="1300" dirty="0"/>
          </a:p>
        </p:txBody>
      </p:sp>
      <p:sp>
        <p:nvSpPr>
          <p:cNvPr id="11" name="Text 9"/>
          <p:cNvSpPr/>
          <p:nvPr/>
        </p:nvSpPr>
        <p:spPr>
          <a:xfrm>
            <a:off x="1051560" y="2459736"/>
            <a:ext cx="713232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WHOOP, Fitbit — great data. But no emotional support at all.</a:t>
            </a:r>
            <a:endParaRPr lang="en-US" sz="1000" dirty="0"/>
          </a:p>
        </p:txBody>
      </p:sp>
      <p:sp>
        <p:nvSpPr>
          <p:cNvPr id="12" name="Shape 10"/>
          <p:cNvSpPr/>
          <p:nvPr/>
        </p:nvSpPr>
        <p:spPr>
          <a:xfrm>
            <a:off x="365760" y="2999232"/>
            <a:ext cx="8412480" cy="713232"/>
          </a:xfrm>
          <a:prstGeom prst="roundRect">
            <a:avLst>
              <a:gd name="adj" fmla="val 12821"/>
            </a:avLst>
          </a:prstGeom>
          <a:solidFill>
            <a:srgbClr val="131C2E"/>
          </a:solidFill>
          <a:ln w="6350">
            <a:solidFill>
              <a:srgbClr val="1E3A5F"/>
            </a:solidFill>
            <a:prstDash val="solid"/>
          </a:ln>
        </p:spPr>
      </p:sp>
      <p:sp>
        <p:nvSpPr>
          <p:cNvPr id="13" name="Text 11"/>
          <p:cNvSpPr/>
          <p:nvPr/>
        </p:nvSpPr>
        <p:spPr>
          <a:xfrm>
            <a:off x="502920" y="2999232"/>
            <a:ext cx="457200" cy="713232"/>
          </a:xfrm>
          <a:prstGeom prst="rect">
            <a:avLst/>
          </a:prstGeom>
          <a:noFill/>
          <a:ln/>
        </p:spPr>
        <p:txBody>
          <a:bodyPr wrap="square" lIns="0" tIns="0" rIns="0" bIns="0" rtlCol="0" anchor="ctr"/>
          <a:lstStyle/>
          <a:p>
            <a:pPr algn="ctr" indent="0" marL="0">
              <a:buNone/>
            </a:pPr>
            <a:r>
              <a:rPr lang="en-US" sz="2000" dirty="0">
                <a:solidFill>
                  <a:srgbClr val="F1F5F9"/>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051560" y="3054096"/>
            <a:ext cx="2286000" cy="256032"/>
          </a:xfrm>
          <a:prstGeom prst="rect">
            <a:avLst/>
          </a:prstGeom>
          <a:noFill/>
          <a:ln/>
        </p:spPr>
        <p:txBody>
          <a:bodyPr wrap="square" lIns="0" tIns="0" rIns="0" bIns="0" rtlCol="0" anchor="ctr"/>
          <a:lstStyle/>
          <a:p>
            <a:pPr algn="l" indent="0" marL="0">
              <a:buNone/>
            </a:pPr>
            <a:r>
              <a:rPr lang="en-US" sz="1300" b="1" dirty="0">
                <a:solidFill>
                  <a:srgbClr val="F1F5F9"/>
                </a:solidFill>
                <a:latin typeface="Calibri" pitchFamily="34" charset="0"/>
                <a:ea typeface="Calibri" pitchFamily="34" charset="-122"/>
                <a:cs typeface="Calibri" pitchFamily="34" charset="-120"/>
              </a:rPr>
              <a:t>Multiple subscriptions</a:t>
            </a:r>
            <a:endParaRPr lang="en-US" sz="1300" dirty="0"/>
          </a:p>
        </p:txBody>
      </p:sp>
      <p:sp>
        <p:nvSpPr>
          <p:cNvPr id="15" name="Text 13"/>
          <p:cNvSpPr/>
          <p:nvPr/>
        </p:nvSpPr>
        <p:spPr>
          <a:xfrm>
            <a:off x="1051560" y="3328416"/>
            <a:ext cx="713232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Students pay for 4–5 apps. None of them talk to each other.</a:t>
            </a:r>
            <a:endParaRPr lang="en-US" sz="1000" dirty="0"/>
          </a:p>
        </p:txBody>
      </p:sp>
      <p:sp>
        <p:nvSpPr>
          <p:cNvPr id="16" name="Shape 14"/>
          <p:cNvSpPr/>
          <p:nvPr/>
        </p:nvSpPr>
        <p:spPr>
          <a:xfrm>
            <a:off x="365760" y="3867912"/>
            <a:ext cx="8412480" cy="713232"/>
          </a:xfrm>
          <a:prstGeom prst="roundRect">
            <a:avLst>
              <a:gd name="adj" fmla="val 12821"/>
            </a:avLst>
          </a:prstGeom>
          <a:solidFill>
            <a:srgbClr val="131C2E"/>
          </a:solidFill>
          <a:ln w="6350">
            <a:solidFill>
              <a:srgbClr val="1E3A5F"/>
            </a:solidFill>
            <a:prstDash val="solid"/>
          </a:ln>
        </p:spPr>
      </p:sp>
      <p:sp>
        <p:nvSpPr>
          <p:cNvPr id="17" name="Text 15"/>
          <p:cNvSpPr/>
          <p:nvPr/>
        </p:nvSpPr>
        <p:spPr>
          <a:xfrm>
            <a:off x="502920" y="3867912"/>
            <a:ext cx="457200" cy="713232"/>
          </a:xfrm>
          <a:prstGeom prst="rect">
            <a:avLst/>
          </a:prstGeom>
          <a:noFill/>
          <a:ln/>
        </p:spPr>
        <p:txBody>
          <a:bodyPr wrap="square" lIns="0" tIns="0" rIns="0" bIns="0" rtlCol="0" anchor="ctr"/>
          <a:lstStyle/>
          <a:p>
            <a:pPr algn="ctr" indent="0" marL="0">
              <a:buNone/>
            </a:pPr>
            <a:r>
              <a:rPr lang="en-US" sz="2000" dirty="0">
                <a:solidFill>
                  <a:srgbClr val="F1F5F9"/>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1051560" y="3922776"/>
            <a:ext cx="2286000" cy="256032"/>
          </a:xfrm>
          <a:prstGeom prst="rect">
            <a:avLst/>
          </a:prstGeom>
          <a:noFill/>
          <a:ln/>
        </p:spPr>
        <p:txBody>
          <a:bodyPr wrap="square" lIns="0" tIns="0" rIns="0" bIns="0" rtlCol="0" anchor="ctr"/>
          <a:lstStyle/>
          <a:p>
            <a:pPr algn="l" indent="0" marL="0">
              <a:buNone/>
            </a:pPr>
            <a:r>
              <a:rPr lang="en-US" sz="1300" b="1" dirty="0">
                <a:solidFill>
                  <a:srgbClr val="F1F5F9"/>
                </a:solidFill>
                <a:latin typeface="Calibri" pitchFamily="34" charset="0"/>
                <a:ea typeface="Calibri" pitchFamily="34" charset="-122"/>
                <a:cs typeface="Calibri" pitchFamily="34" charset="-120"/>
              </a:rPr>
              <a:t>No unified AI</a:t>
            </a:r>
            <a:endParaRPr lang="en-US" sz="1300" dirty="0"/>
          </a:p>
        </p:txBody>
      </p:sp>
      <p:sp>
        <p:nvSpPr>
          <p:cNvPr id="19" name="Text 17"/>
          <p:cNvSpPr/>
          <p:nvPr/>
        </p:nvSpPr>
        <p:spPr>
          <a:xfrm>
            <a:off x="1051560" y="4197096"/>
            <a:ext cx="713232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No single app knows both your mood AND your sleep AND your steps.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57200" y="2743200"/>
            <a:ext cx="2286000" cy="2286000"/>
          </a:xfrm>
          <a:prstGeom prst="ellipse">
            <a:avLst/>
          </a:prstGeom>
          <a:solidFill>
            <a:srgbClr val="059669">
              <a:alpha val="15000"/>
            </a:srgbClr>
          </a:solidFill>
          <a:ln w="12700">
            <a:solidFill>
              <a:srgbClr val="059669"/>
            </a:solidFill>
            <a:prstDash val="solid"/>
          </a:ln>
        </p:spPr>
      </p:sp>
      <p:sp>
        <p:nvSpPr>
          <p:cNvPr id="3" name="Text 1"/>
          <p:cNvSpPr/>
          <p:nvPr/>
        </p:nvSpPr>
        <p:spPr>
          <a:xfrm>
            <a:off x="457200" y="594360"/>
            <a:ext cx="8229600" cy="502920"/>
          </a:xfrm>
          <a:prstGeom prst="rect">
            <a:avLst/>
          </a:prstGeom>
          <a:noFill/>
          <a:ln/>
        </p:spPr>
        <p:txBody>
          <a:bodyPr wrap="square" lIns="0" tIns="0" rIns="0" bIns="0" rtlCol="0" anchor="ctr"/>
          <a:lstStyle/>
          <a:p>
            <a:pPr algn="l" indent="0" marL="0">
              <a:buNone/>
            </a:pPr>
            <a:r>
              <a:rPr lang="en-US" sz="2800" b="1" dirty="0">
                <a:solidFill>
                  <a:srgbClr val="F1F5F9"/>
                </a:solidFill>
                <a:latin typeface="Calibri" pitchFamily="34" charset="0"/>
                <a:ea typeface="Calibri" pitchFamily="34" charset="-122"/>
                <a:cs typeface="Calibri" pitchFamily="34" charset="-120"/>
              </a:rPr>
              <a:t>AURA — one app for the whole person</a:t>
            </a:r>
            <a:endParaRPr lang="en-US" sz="2800" dirty="0"/>
          </a:p>
        </p:txBody>
      </p:sp>
      <p:sp>
        <p:nvSpPr>
          <p:cNvPr id="4" name="Shape 2"/>
          <p:cNvSpPr/>
          <p:nvPr/>
        </p:nvSpPr>
        <p:spPr>
          <a:xfrm>
            <a:off x="3200400" y="1371600"/>
            <a:ext cx="2743200" cy="1005840"/>
          </a:xfrm>
          <a:prstGeom prst="roundRect">
            <a:avLst>
              <a:gd name="adj" fmla="val 13636"/>
            </a:avLst>
          </a:prstGeom>
          <a:solidFill>
            <a:srgbClr val="7C3AED"/>
          </a:solidFill>
          <a:ln w="6350">
            <a:solidFill>
              <a:srgbClr val="C4B5FD"/>
            </a:solidFill>
            <a:prstDash val="solid"/>
          </a:ln>
        </p:spPr>
      </p:sp>
      <p:sp>
        <p:nvSpPr>
          <p:cNvPr id="5" name="Text 3"/>
          <p:cNvSpPr/>
          <p:nvPr/>
        </p:nvSpPr>
        <p:spPr>
          <a:xfrm>
            <a:off x="3200400" y="1371600"/>
            <a:ext cx="2743200" cy="1005840"/>
          </a:xfrm>
          <a:prstGeom prst="rect">
            <a:avLst/>
          </a:prstGeom>
          <a:noFill/>
          <a:ln/>
        </p:spPr>
        <p:txBody>
          <a:bodyPr wrap="square" lIns="0" tIns="0" rIns="0" bIns="0"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  AURA AI</a:t>
            </a:r>
            <a:endParaRPr lang="en-US" sz="1800" dirty="0"/>
          </a:p>
        </p:txBody>
      </p:sp>
      <p:sp>
        <p:nvSpPr>
          <p:cNvPr id="6" name="Text 4"/>
          <p:cNvSpPr/>
          <p:nvPr/>
        </p:nvSpPr>
        <p:spPr>
          <a:xfrm>
            <a:off x="3200400" y="2395728"/>
            <a:ext cx="274320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Knows everything about you</a:t>
            </a:r>
            <a:endParaRPr lang="en-US" sz="900" dirty="0"/>
          </a:p>
        </p:txBody>
      </p:sp>
      <p:sp>
        <p:nvSpPr>
          <p:cNvPr id="7" name="Shape 5"/>
          <p:cNvSpPr/>
          <p:nvPr/>
        </p:nvSpPr>
        <p:spPr>
          <a:xfrm>
            <a:off x="274320" y="1463040"/>
            <a:ext cx="1828800" cy="822960"/>
          </a:xfrm>
          <a:prstGeom prst="roundRect">
            <a:avLst>
              <a:gd name="adj" fmla="val 11111"/>
            </a:avLst>
          </a:prstGeom>
          <a:solidFill>
            <a:srgbClr val="131C2E"/>
          </a:solidFill>
          <a:ln w="6350">
            <a:solidFill>
              <a:srgbClr val="C4B5FD"/>
            </a:solidFill>
            <a:prstDash val="solid"/>
          </a:ln>
        </p:spPr>
      </p:sp>
      <p:sp>
        <p:nvSpPr>
          <p:cNvPr id="8" name="Text 6"/>
          <p:cNvSpPr/>
          <p:nvPr/>
        </p:nvSpPr>
        <p:spPr>
          <a:xfrm>
            <a:off x="274320" y="1463040"/>
            <a:ext cx="1828800" cy="82296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 Mental Counseling</a:t>
            </a:r>
            <a:endParaRPr lang="en-US" sz="1100" dirty="0"/>
          </a:p>
        </p:txBody>
      </p:sp>
      <p:sp>
        <p:nvSpPr>
          <p:cNvPr id="9" name="Shape 7"/>
          <p:cNvSpPr/>
          <p:nvPr/>
        </p:nvSpPr>
        <p:spPr>
          <a:xfrm>
            <a:off x="2103120" y="1874520"/>
            <a:ext cx="1371600" cy="0"/>
          </a:xfrm>
          <a:prstGeom prst="line">
            <a:avLst/>
          </a:prstGeom>
          <a:noFill/>
          <a:ln w="6350">
            <a:solidFill>
              <a:srgbClr val="1E3A5F"/>
            </a:solidFill>
            <a:prstDash val="dash"/>
          </a:ln>
        </p:spPr>
      </p:sp>
      <p:sp>
        <p:nvSpPr>
          <p:cNvPr id="10" name="Shape 8"/>
          <p:cNvSpPr/>
          <p:nvPr/>
        </p:nvSpPr>
        <p:spPr>
          <a:xfrm>
            <a:off x="274320" y="2834640"/>
            <a:ext cx="1828800" cy="822960"/>
          </a:xfrm>
          <a:prstGeom prst="roundRect">
            <a:avLst>
              <a:gd name="adj" fmla="val 11111"/>
            </a:avLst>
          </a:prstGeom>
          <a:solidFill>
            <a:srgbClr val="131C2E"/>
          </a:solidFill>
          <a:ln w="6350">
            <a:solidFill>
              <a:srgbClr val="6EE7B7"/>
            </a:solidFill>
            <a:prstDash val="solid"/>
          </a:ln>
        </p:spPr>
      </p:sp>
      <p:sp>
        <p:nvSpPr>
          <p:cNvPr id="11" name="Text 9"/>
          <p:cNvSpPr/>
          <p:nvPr/>
        </p:nvSpPr>
        <p:spPr>
          <a:xfrm>
            <a:off x="274320" y="2834640"/>
            <a:ext cx="1828800" cy="822960"/>
          </a:xfrm>
          <a:prstGeom prst="rect">
            <a:avLst/>
          </a:prstGeom>
          <a:noFill/>
          <a:ln/>
        </p:spPr>
        <p:txBody>
          <a:bodyPr wrap="square" lIns="0" tIns="0" rIns="0" bIns="0" rtlCol="0" anchor="ctr"/>
          <a:lstStyle/>
          <a:p>
            <a:pPr algn="ctr" indent="0" marL="0">
              <a:buNone/>
            </a:pPr>
            <a:r>
              <a:rPr lang="en-US" sz="1100" dirty="0">
                <a:solidFill>
                  <a:srgbClr val="6EE7B7"/>
                </a:solidFill>
                <a:latin typeface="Calibri" pitchFamily="34" charset="0"/>
                <a:ea typeface="Calibri" pitchFamily="34" charset="-122"/>
                <a:cs typeface="Calibri" pitchFamily="34" charset="-120"/>
              </a:rPr>
              <a:t>⌚ Wearable Data</a:t>
            </a:r>
            <a:endParaRPr lang="en-US" sz="1100" dirty="0"/>
          </a:p>
        </p:txBody>
      </p:sp>
      <p:sp>
        <p:nvSpPr>
          <p:cNvPr id="12" name="Shape 10"/>
          <p:cNvSpPr/>
          <p:nvPr/>
        </p:nvSpPr>
        <p:spPr>
          <a:xfrm>
            <a:off x="2103120" y="3246120"/>
            <a:ext cx="1371600" cy="0"/>
          </a:xfrm>
          <a:prstGeom prst="line">
            <a:avLst/>
          </a:prstGeom>
          <a:noFill/>
          <a:ln w="6350">
            <a:solidFill>
              <a:srgbClr val="1E3A5F"/>
            </a:solidFill>
            <a:prstDash val="dash"/>
          </a:ln>
        </p:spPr>
      </p:sp>
      <p:sp>
        <p:nvSpPr>
          <p:cNvPr id="13" name="Shape 11"/>
          <p:cNvSpPr/>
          <p:nvPr/>
        </p:nvSpPr>
        <p:spPr>
          <a:xfrm>
            <a:off x="6217920" y="1463040"/>
            <a:ext cx="1828800" cy="822960"/>
          </a:xfrm>
          <a:prstGeom prst="roundRect">
            <a:avLst>
              <a:gd name="adj" fmla="val 11111"/>
            </a:avLst>
          </a:prstGeom>
          <a:solidFill>
            <a:srgbClr val="131C2E"/>
          </a:solidFill>
          <a:ln w="6350">
            <a:solidFill>
              <a:srgbClr val="FCD34D"/>
            </a:solidFill>
            <a:prstDash val="solid"/>
          </a:ln>
        </p:spPr>
      </p:sp>
      <p:sp>
        <p:nvSpPr>
          <p:cNvPr id="14" name="Text 12"/>
          <p:cNvSpPr/>
          <p:nvPr/>
        </p:nvSpPr>
        <p:spPr>
          <a:xfrm>
            <a:off x="6217920" y="1463040"/>
            <a:ext cx="1828800" cy="822960"/>
          </a:xfrm>
          <a:prstGeom prst="rect">
            <a:avLst/>
          </a:prstGeom>
          <a:noFill/>
          <a:ln/>
        </p:spPr>
        <p:txBody>
          <a:bodyPr wrap="square" lIns="0" tIns="0" rIns="0" bIns="0" rtlCol="0" anchor="ctr"/>
          <a:lstStyle/>
          <a:p>
            <a:pPr algn="ctr" indent="0" marL="0">
              <a:buNone/>
            </a:pPr>
            <a:r>
              <a:rPr lang="en-US" sz="1100" dirty="0">
                <a:solidFill>
                  <a:srgbClr val="FCD34D"/>
                </a:solidFill>
                <a:latin typeface="Calibri" pitchFamily="34" charset="0"/>
                <a:ea typeface="Calibri" pitchFamily="34" charset="-122"/>
                <a:cs typeface="Calibri" pitchFamily="34" charset="-120"/>
              </a:rPr>
              <a:t>💪 Physical Tracking</a:t>
            </a:r>
            <a:endParaRPr lang="en-US" sz="1100" dirty="0"/>
          </a:p>
        </p:txBody>
      </p:sp>
      <p:sp>
        <p:nvSpPr>
          <p:cNvPr id="15" name="Shape 13"/>
          <p:cNvSpPr/>
          <p:nvPr/>
        </p:nvSpPr>
        <p:spPr>
          <a:xfrm>
            <a:off x="6217920" y="1874520"/>
            <a:ext cx="-1188720" cy="0"/>
          </a:xfrm>
          <a:prstGeom prst="line">
            <a:avLst/>
          </a:prstGeom>
          <a:noFill/>
          <a:ln w="6350">
            <a:solidFill>
              <a:srgbClr val="1E3A5F"/>
            </a:solidFill>
            <a:prstDash val="dash"/>
          </a:ln>
        </p:spPr>
      </p:sp>
      <p:sp>
        <p:nvSpPr>
          <p:cNvPr id="16" name="Shape 14"/>
          <p:cNvSpPr/>
          <p:nvPr/>
        </p:nvSpPr>
        <p:spPr>
          <a:xfrm>
            <a:off x="6217920" y="2834640"/>
            <a:ext cx="1828800" cy="822960"/>
          </a:xfrm>
          <a:prstGeom prst="roundRect">
            <a:avLst>
              <a:gd name="adj" fmla="val 11111"/>
            </a:avLst>
          </a:prstGeom>
          <a:solidFill>
            <a:srgbClr val="131C2E"/>
          </a:solidFill>
          <a:ln w="6350">
            <a:solidFill>
              <a:srgbClr val="C4B5FD"/>
            </a:solidFill>
            <a:prstDash val="solid"/>
          </a:ln>
        </p:spPr>
      </p:sp>
      <p:sp>
        <p:nvSpPr>
          <p:cNvPr id="17" name="Text 15"/>
          <p:cNvSpPr/>
          <p:nvPr/>
        </p:nvSpPr>
        <p:spPr>
          <a:xfrm>
            <a:off x="6217920" y="2834640"/>
            <a:ext cx="1828800" cy="822960"/>
          </a:xfrm>
          <a:prstGeom prst="rect">
            <a:avLst/>
          </a:prstGeom>
          <a:noFill/>
          <a:ln/>
        </p:spPr>
        <p:txBody>
          <a:bodyPr wrap="square" lIns="0" tIns="0" rIns="0" bIns="0" rtlCol="0" anchor="ctr"/>
          <a:lstStyle/>
          <a:p>
            <a:pPr algn="ctr" indent="0" marL="0">
              <a:buNone/>
            </a:pPr>
            <a:r>
              <a:rPr lang="en-US" sz="1100" dirty="0">
                <a:solidFill>
                  <a:srgbClr val="C4B5FD"/>
                </a:solidFill>
                <a:latin typeface="Calibri" pitchFamily="34" charset="0"/>
                <a:ea typeface="Calibri" pitchFamily="34" charset="-122"/>
                <a:cs typeface="Calibri" pitchFamily="34" charset="-120"/>
              </a:rPr>
              <a:t>🎯 Goal Management</a:t>
            </a:r>
            <a:endParaRPr lang="en-US" sz="1100" dirty="0"/>
          </a:p>
        </p:txBody>
      </p:sp>
      <p:sp>
        <p:nvSpPr>
          <p:cNvPr id="18" name="Shape 16"/>
          <p:cNvSpPr/>
          <p:nvPr/>
        </p:nvSpPr>
        <p:spPr>
          <a:xfrm>
            <a:off x="6217920" y="3246120"/>
            <a:ext cx="-1188720" cy="0"/>
          </a:xfrm>
          <a:prstGeom prst="line">
            <a:avLst/>
          </a:prstGeom>
          <a:noFill/>
          <a:ln w="6350">
            <a:solidFill>
              <a:srgbClr val="1E3A5F"/>
            </a:solidFill>
            <a:prstDash val="dash"/>
          </a:ln>
        </p:spPr>
      </p:sp>
      <p:sp>
        <p:nvSpPr>
          <p:cNvPr id="19" name="Shape 17"/>
          <p:cNvSpPr/>
          <p:nvPr/>
        </p:nvSpPr>
        <p:spPr>
          <a:xfrm>
            <a:off x="3017520" y="3749040"/>
            <a:ext cx="1828800" cy="822960"/>
          </a:xfrm>
          <a:prstGeom prst="roundRect">
            <a:avLst>
              <a:gd name="adj" fmla="val 11111"/>
            </a:avLst>
          </a:prstGeom>
          <a:solidFill>
            <a:srgbClr val="131C2E"/>
          </a:solidFill>
          <a:ln w="6350">
            <a:solidFill>
              <a:srgbClr val="6EE7B7"/>
            </a:solidFill>
            <a:prstDash val="solid"/>
          </a:ln>
        </p:spPr>
      </p:sp>
      <p:sp>
        <p:nvSpPr>
          <p:cNvPr id="20" name="Text 18"/>
          <p:cNvSpPr/>
          <p:nvPr/>
        </p:nvSpPr>
        <p:spPr>
          <a:xfrm>
            <a:off x="3017520" y="3749040"/>
            <a:ext cx="1828800" cy="822960"/>
          </a:xfrm>
          <a:prstGeom prst="rect">
            <a:avLst/>
          </a:prstGeom>
          <a:noFill/>
          <a:ln/>
        </p:spPr>
        <p:txBody>
          <a:bodyPr wrap="square" lIns="0" tIns="0" rIns="0" bIns="0" rtlCol="0" anchor="ctr"/>
          <a:lstStyle/>
          <a:p>
            <a:pPr algn="ctr" indent="0" marL="0">
              <a:buNone/>
            </a:pPr>
            <a:r>
              <a:rPr lang="en-US" sz="1100" dirty="0">
                <a:solidFill>
                  <a:srgbClr val="6EE7B7"/>
                </a:solidFill>
                <a:latin typeface="Calibri" pitchFamily="34" charset="0"/>
                <a:ea typeface="Calibri" pitchFamily="34" charset="-122"/>
                <a:cs typeface="Calibri" pitchFamily="34" charset="-120"/>
              </a:rPr>
              <a:t>📊 Wellness Score</a:t>
            </a:r>
            <a:endParaRPr lang="en-US" sz="1100" dirty="0"/>
          </a:p>
        </p:txBody>
      </p:sp>
      <p:sp>
        <p:nvSpPr>
          <p:cNvPr id="21" name="Shape 19"/>
          <p:cNvSpPr/>
          <p:nvPr/>
        </p:nvSpPr>
        <p:spPr>
          <a:xfrm>
            <a:off x="3017520" y="4160520"/>
            <a:ext cx="457200" cy="0"/>
          </a:xfrm>
          <a:prstGeom prst="line">
            <a:avLst/>
          </a:prstGeom>
          <a:noFill/>
          <a:ln w="6350">
            <a:solidFill>
              <a:srgbClr val="1E3A5F"/>
            </a:solidFill>
            <a:prstDash val="dash"/>
          </a:ln>
        </p:spPr>
      </p:sp>
      <p:sp>
        <p:nvSpPr>
          <p:cNvPr id="22" name="Text 20"/>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100" i="1" dirty="0">
                <a:solidFill>
                  <a:srgbClr val="6EE7B7"/>
                </a:solidFill>
                <a:latin typeface="Calibri" pitchFamily="34" charset="0"/>
                <a:ea typeface="Calibri" pitchFamily="34" charset="-122"/>
                <a:cs typeface="Calibri" pitchFamily="34" charset="-120"/>
              </a:rPr>
              <a:t>Replace 4 apps with 1 intelligent platform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p:bgPr>
    </p:bg>
    <p:spTree>
      <p:nvGrpSpPr>
        <p:cNvPr id="1" name=""/>
        <p:cNvGrpSpPr/>
        <p:nvPr/>
      </p:nvGrpSpPr>
      <p:grpSpPr>
        <a:xfrm>
          <a:off x="0" y="0"/>
          <a:ext cx="0" cy="0"/>
          <a:chOff x="0" y="0"/>
          <a:chExt cx="0" cy="0"/>
        </a:xfrm>
      </p:grpSpPr>
      <p:sp>
        <p:nvSpPr>
          <p:cNvPr id="2" name="Text 0"/>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800" b="1" dirty="0">
                <a:solidFill>
                  <a:srgbClr val="F1F5F9"/>
                </a:solidFill>
                <a:latin typeface="Calibri" pitchFamily="34" charset="0"/>
                <a:ea typeface="Calibri" pitchFamily="34" charset="-122"/>
                <a:cs typeface="Calibri" pitchFamily="34" charset="-120"/>
              </a:rPr>
              <a:t>Market overview</a:t>
            </a:r>
            <a:endParaRPr lang="en-US" sz="2800" dirty="0"/>
          </a:p>
        </p:txBody>
      </p:sp>
      <p:sp>
        <p:nvSpPr>
          <p:cNvPr id="3" name="Shape 1"/>
          <p:cNvSpPr/>
          <p:nvPr/>
        </p:nvSpPr>
        <p:spPr>
          <a:xfrm>
            <a:off x="320040" y="1143000"/>
            <a:ext cx="2743200" cy="3566160"/>
          </a:xfrm>
          <a:prstGeom prst="roundRect">
            <a:avLst>
              <a:gd name="adj" fmla="val 4667"/>
            </a:avLst>
          </a:prstGeom>
          <a:solidFill>
            <a:srgbClr val="131C2E"/>
          </a:solidFill>
          <a:ln w="6350">
            <a:solidFill>
              <a:srgbClr val="1E3A5F"/>
            </a:solidFill>
            <a:prstDash val="solid"/>
          </a:ln>
        </p:spPr>
      </p:sp>
      <p:sp>
        <p:nvSpPr>
          <p:cNvPr id="4" name="Text 2"/>
          <p:cNvSpPr/>
          <p:nvPr/>
        </p:nvSpPr>
        <p:spPr>
          <a:xfrm>
            <a:off x="320040" y="1188720"/>
            <a:ext cx="2743200" cy="411480"/>
          </a:xfrm>
          <a:prstGeom prst="rect">
            <a:avLst/>
          </a:prstGeom>
          <a:noFill/>
          <a:ln/>
        </p:spPr>
        <p:txBody>
          <a:bodyPr wrap="square" lIns="0" tIns="0" rIns="0" bIns="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a:t>
            </a:r>
            <a:endParaRPr lang="en-US" sz="1800" dirty="0"/>
          </a:p>
        </p:txBody>
      </p:sp>
      <p:sp>
        <p:nvSpPr>
          <p:cNvPr id="5" name="Text 3"/>
          <p:cNvSpPr/>
          <p:nvPr/>
        </p:nvSpPr>
        <p:spPr>
          <a:xfrm>
            <a:off x="320040" y="1600200"/>
            <a:ext cx="2743200" cy="274320"/>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Wysa / Woebot</a:t>
            </a:r>
            <a:endParaRPr lang="en-US" sz="1300" dirty="0"/>
          </a:p>
        </p:txBody>
      </p:sp>
      <p:sp>
        <p:nvSpPr>
          <p:cNvPr id="6" name="Text 4"/>
          <p:cNvSpPr/>
          <p:nvPr/>
        </p:nvSpPr>
        <p:spPr>
          <a:xfrm>
            <a:off x="320040" y="1856232"/>
            <a:ext cx="2743200" cy="201168"/>
          </a:xfrm>
          <a:prstGeom prst="rect">
            <a:avLst/>
          </a:prstGeom>
          <a:noFill/>
          <a:ln/>
        </p:spPr>
        <p:txBody>
          <a:bodyPr wrap="square" lIns="0" tIns="0" rIns="0" bIns="0"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Mental health AI</a:t>
            </a:r>
            <a:endParaRPr lang="en-US" sz="900" dirty="0"/>
          </a:p>
        </p:txBody>
      </p:sp>
      <p:sp>
        <p:nvSpPr>
          <p:cNvPr id="7" name="Text 5"/>
          <p:cNvSpPr/>
          <p:nvPr/>
        </p:nvSpPr>
        <p:spPr>
          <a:xfrm>
            <a:off x="457200" y="2148840"/>
            <a:ext cx="2468880" cy="274320"/>
          </a:xfrm>
          <a:prstGeom prst="rect">
            <a:avLst/>
          </a:prstGeom>
          <a:noFill/>
          <a:ln/>
        </p:spPr>
        <p:txBody>
          <a:bodyPr wrap="square" lIns="0" tIns="0" rIns="0" bIns="0" rtlCol="0" anchor="ctr"/>
          <a:lstStyle/>
          <a:p>
            <a:pPr algn="l" indent="0" marL="0">
              <a:buNone/>
            </a:pPr>
            <a:r>
              <a:rPr lang="en-US" sz="1000" dirty="0">
                <a:solidFill>
                  <a:srgbClr val="6EE7B7"/>
                </a:solidFill>
                <a:latin typeface="Calibri" pitchFamily="34" charset="0"/>
                <a:ea typeface="Calibri" pitchFamily="34" charset="-122"/>
                <a:cs typeface="Calibri" pitchFamily="34" charset="-120"/>
              </a:rPr>
              <a:t>✓  AI chat counselling</a:t>
            </a:r>
            <a:endParaRPr lang="en-US" sz="1000" dirty="0"/>
          </a:p>
        </p:txBody>
      </p:sp>
      <p:sp>
        <p:nvSpPr>
          <p:cNvPr id="8" name="Text 6"/>
          <p:cNvSpPr/>
          <p:nvPr/>
        </p:nvSpPr>
        <p:spPr>
          <a:xfrm>
            <a:off x="457200" y="2496312"/>
            <a:ext cx="2468880" cy="274320"/>
          </a:xfrm>
          <a:prstGeom prst="rect">
            <a:avLst/>
          </a:prstGeom>
          <a:noFill/>
          <a:ln/>
        </p:spPr>
        <p:txBody>
          <a:bodyPr wrap="square" lIns="0" tIns="0" rIns="0" bIns="0" rtlCol="0" anchor="ctr"/>
          <a:lstStyle/>
          <a:p>
            <a:pPr algn="l" indent="0" marL="0">
              <a:buNone/>
            </a:pPr>
            <a:r>
              <a:rPr lang="en-US" sz="1000" dirty="0">
                <a:solidFill>
                  <a:srgbClr val="6EE7B7"/>
                </a:solidFill>
                <a:latin typeface="Calibri" pitchFamily="34" charset="0"/>
                <a:ea typeface="Calibri" pitchFamily="34" charset="-122"/>
                <a:cs typeface="Calibri" pitchFamily="34" charset="-120"/>
              </a:rPr>
              <a:t>✓  CBT-based exercises</a:t>
            </a:r>
            <a:endParaRPr lang="en-US" sz="1000" dirty="0"/>
          </a:p>
        </p:txBody>
      </p:sp>
      <p:sp>
        <p:nvSpPr>
          <p:cNvPr id="9" name="Text 7"/>
          <p:cNvSpPr/>
          <p:nvPr/>
        </p:nvSpPr>
        <p:spPr>
          <a:xfrm>
            <a:off x="457200" y="2843784"/>
            <a:ext cx="2468880" cy="274320"/>
          </a:xfrm>
          <a:prstGeom prst="rect">
            <a:avLst/>
          </a:prstGeom>
          <a:noFill/>
          <a:ln/>
        </p:spPr>
        <p:txBody>
          <a:bodyPr wrap="square" lIns="0" tIns="0" rIns="0" bIns="0" rtlCol="0" anchor="ctr"/>
          <a:lstStyle/>
          <a:p>
            <a:pPr algn="l" indent="0" marL="0">
              <a:buNone/>
            </a:pPr>
            <a:r>
              <a:rPr lang="en-US" sz="1000" dirty="0">
                <a:solidFill>
                  <a:srgbClr val="6EE7B7"/>
                </a:solidFill>
                <a:latin typeface="Calibri" pitchFamily="34" charset="0"/>
                <a:ea typeface="Calibri" pitchFamily="34" charset="-122"/>
                <a:cs typeface="Calibri" pitchFamily="34" charset="-120"/>
              </a:rPr>
              <a:t>✓  Mood journalling</a:t>
            </a:r>
            <a:endParaRPr lang="en-US" sz="1000" dirty="0"/>
          </a:p>
        </p:txBody>
      </p:sp>
      <p:sp>
        <p:nvSpPr>
          <p:cNvPr id="10" name="Text 8"/>
          <p:cNvSpPr/>
          <p:nvPr/>
        </p:nvSpPr>
        <p:spPr>
          <a:xfrm>
            <a:off x="457200" y="3191256"/>
            <a:ext cx="2468880" cy="256032"/>
          </a:xfrm>
          <a:prstGeom prst="rect">
            <a:avLst/>
          </a:prstGeom>
          <a:noFill/>
          <a:ln/>
        </p:spPr>
        <p:txBody>
          <a:bodyPr wrap="square" lIns="0" tIns="0" rIns="0" bIns="0" rtlCol="0" anchor="ctr"/>
          <a:lstStyle/>
          <a:p>
            <a:pPr algn="l" indent="0" marL="0">
              <a:buNone/>
            </a:pPr>
            <a:r>
              <a:rPr lang="en-US" sz="1000" dirty="0">
                <a:solidFill>
                  <a:srgbClr val="FDA4AF"/>
                </a:solidFill>
                <a:latin typeface="Calibri" pitchFamily="34" charset="0"/>
                <a:ea typeface="Calibri" pitchFamily="34" charset="-122"/>
                <a:cs typeface="Calibri" pitchFamily="34" charset="-120"/>
              </a:rPr>
              <a:t>✗  No physical data</a:t>
            </a:r>
            <a:endParaRPr lang="en-US" sz="1000" dirty="0"/>
          </a:p>
        </p:txBody>
      </p:sp>
      <p:sp>
        <p:nvSpPr>
          <p:cNvPr id="11" name="Text 9"/>
          <p:cNvSpPr/>
          <p:nvPr/>
        </p:nvSpPr>
        <p:spPr>
          <a:xfrm>
            <a:off x="457200" y="3511296"/>
            <a:ext cx="2468880" cy="256032"/>
          </a:xfrm>
          <a:prstGeom prst="rect">
            <a:avLst/>
          </a:prstGeom>
          <a:noFill/>
          <a:ln/>
        </p:spPr>
        <p:txBody>
          <a:bodyPr wrap="square" lIns="0" tIns="0" rIns="0" bIns="0" rtlCol="0" anchor="ctr"/>
          <a:lstStyle/>
          <a:p>
            <a:pPr algn="l" indent="0" marL="0">
              <a:buNone/>
            </a:pPr>
            <a:r>
              <a:rPr lang="en-US" sz="1000" dirty="0">
                <a:solidFill>
                  <a:srgbClr val="FDA4AF"/>
                </a:solidFill>
                <a:latin typeface="Calibri" pitchFamily="34" charset="0"/>
                <a:ea typeface="Calibri" pitchFamily="34" charset="-122"/>
                <a:cs typeface="Calibri" pitchFamily="34" charset="-120"/>
              </a:rPr>
              <a:t>✗  Generic advice</a:t>
            </a:r>
            <a:endParaRPr lang="en-US" sz="1000" dirty="0"/>
          </a:p>
        </p:txBody>
      </p:sp>
      <p:sp>
        <p:nvSpPr>
          <p:cNvPr id="12" name="Text 10"/>
          <p:cNvSpPr/>
          <p:nvPr/>
        </p:nvSpPr>
        <p:spPr>
          <a:xfrm>
            <a:off x="457200" y="3831336"/>
            <a:ext cx="2468880" cy="256032"/>
          </a:xfrm>
          <a:prstGeom prst="rect">
            <a:avLst/>
          </a:prstGeom>
          <a:noFill/>
          <a:ln/>
        </p:spPr>
        <p:txBody>
          <a:bodyPr wrap="square" lIns="0" tIns="0" rIns="0" bIns="0" rtlCol="0" anchor="ctr"/>
          <a:lstStyle/>
          <a:p>
            <a:pPr algn="l" indent="0" marL="0">
              <a:buNone/>
            </a:pPr>
            <a:r>
              <a:rPr lang="en-US" sz="1000" dirty="0">
                <a:solidFill>
                  <a:srgbClr val="FDA4AF"/>
                </a:solidFill>
                <a:latin typeface="Calibri" pitchFamily="34" charset="0"/>
                <a:ea typeface="Calibri" pitchFamily="34" charset="-122"/>
                <a:cs typeface="Calibri" pitchFamily="34" charset="-120"/>
              </a:rPr>
              <a:t>✗  No wearables</a:t>
            </a:r>
            <a:endParaRPr lang="en-US" sz="1000" dirty="0"/>
          </a:p>
        </p:txBody>
      </p:sp>
      <p:sp>
        <p:nvSpPr>
          <p:cNvPr id="13" name="Shape 11"/>
          <p:cNvSpPr/>
          <p:nvPr/>
        </p:nvSpPr>
        <p:spPr>
          <a:xfrm>
            <a:off x="3246120" y="1143000"/>
            <a:ext cx="2743200" cy="3566160"/>
          </a:xfrm>
          <a:prstGeom prst="roundRect">
            <a:avLst>
              <a:gd name="adj" fmla="val 4667"/>
            </a:avLst>
          </a:prstGeom>
          <a:solidFill>
            <a:srgbClr val="131C2E"/>
          </a:solidFill>
          <a:ln w="6350">
            <a:solidFill>
              <a:srgbClr val="1E3A5F"/>
            </a:solidFill>
            <a:prstDash val="solid"/>
          </a:ln>
        </p:spPr>
      </p:sp>
      <p:sp>
        <p:nvSpPr>
          <p:cNvPr id="14" name="Text 12"/>
          <p:cNvSpPr/>
          <p:nvPr/>
        </p:nvSpPr>
        <p:spPr>
          <a:xfrm>
            <a:off x="3246120" y="1188720"/>
            <a:ext cx="2743200" cy="411480"/>
          </a:xfrm>
          <a:prstGeom prst="rect">
            <a:avLst/>
          </a:prstGeom>
          <a:noFill/>
          <a:ln/>
        </p:spPr>
        <p:txBody>
          <a:bodyPr wrap="square" lIns="0" tIns="0" rIns="0" bIns="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3246120" y="1600200"/>
            <a:ext cx="2743200" cy="274320"/>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WHOOP / Fitbit</a:t>
            </a:r>
            <a:endParaRPr lang="en-US" sz="1300" dirty="0"/>
          </a:p>
        </p:txBody>
      </p:sp>
      <p:sp>
        <p:nvSpPr>
          <p:cNvPr id="16" name="Text 14"/>
          <p:cNvSpPr/>
          <p:nvPr/>
        </p:nvSpPr>
        <p:spPr>
          <a:xfrm>
            <a:off x="3246120" y="1856232"/>
            <a:ext cx="2743200" cy="201168"/>
          </a:xfrm>
          <a:prstGeom prst="rect">
            <a:avLst/>
          </a:prstGeom>
          <a:noFill/>
          <a:ln/>
        </p:spPr>
        <p:txBody>
          <a:bodyPr wrap="square" lIns="0" tIns="0" rIns="0" bIns="0"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Physical tracking</a:t>
            </a:r>
            <a:endParaRPr lang="en-US" sz="900" dirty="0"/>
          </a:p>
        </p:txBody>
      </p:sp>
      <p:sp>
        <p:nvSpPr>
          <p:cNvPr id="17" name="Text 15"/>
          <p:cNvSpPr/>
          <p:nvPr/>
        </p:nvSpPr>
        <p:spPr>
          <a:xfrm>
            <a:off x="3383280" y="2148840"/>
            <a:ext cx="2468880" cy="274320"/>
          </a:xfrm>
          <a:prstGeom prst="rect">
            <a:avLst/>
          </a:prstGeom>
          <a:noFill/>
          <a:ln/>
        </p:spPr>
        <p:txBody>
          <a:bodyPr wrap="square" lIns="0" tIns="0" rIns="0" bIns="0" rtlCol="0" anchor="ctr"/>
          <a:lstStyle/>
          <a:p>
            <a:pPr algn="l" indent="0" marL="0">
              <a:buNone/>
            </a:pPr>
            <a:r>
              <a:rPr lang="en-US" sz="1000" dirty="0">
                <a:solidFill>
                  <a:srgbClr val="6EE7B7"/>
                </a:solidFill>
                <a:latin typeface="Calibri" pitchFamily="34" charset="0"/>
                <a:ea typeface="Calibri" pitchFamily="34" charset="-122"/>
                <a:cs typeface="Calibri" pitchFamily="34" charset="-120"/>
              </a:rPr>
              <a:t>✓  Sleep scoring</a:t>
            </a:r>
            <a:endParaRPr lang="en-US" sz="1000" dirty="0"/>
          </a:p>
        </p:txBody>
      </p:sp>
      <p:sp>
        <p:nvSpPr>
          <p:cNvPr id="18" name="Text 16"/>
          <p:cNvSpPr/>
          <p:nvPr/>
        </p:nvSpPr>
        <p:spPr>
          <a:xfrm>
            <a:off x="3383280" y="2496312"/>
            <a:ext cx="2468880" cy="274320"/>
          </a:xfrm>
          <a:prstGeom prst="rect">
            <a:avLst/>
          </a:prstGeom>
          <a:noFill/>
          <a:ln/>
        </p:spPr>
        <p:txBody>
          <a:bodyPr wrap="square" lIns="0" tIns="0" rIns="0" bIns="0" rtlCol="0" anchor="ctr"/>
          <a:lstStyle/>
          <a:p>
            <a:pPr algn="l" indent="0" marL="0">
              <a:buNone/>
            </a:pPr>
            <a:r>
              <a:rPr lang="en-US" sz="1000" dirty="0">
                <a:solidFill>
                  <a:srgbClr val="6EE7B7"/>
                </a:solidFill>
                <a:latin typeface="Calibri" pitchFamily="34" charset="0"/>
                <a:ea typeface="Calibri" pitchFamily="34" charset="-122"/>
                <a:cs typeface="Calibri" pitchFamily="34" charset="-120"/>
              </a:rPr>
              <a:t>✓  Recovery analysis</a:t>
            </a:r>
            <a:endParaRPr lang="en-US" sz="1000" dirty="0"/>
          </a:p>
        </p:txBody>
      </p:sp>
      <p:sp>
        <p:nvSpPr>
          <p:cNvPr id="19" name="Text 17"/>
          <p:cNvSpPr/>
          <p:nvPr/>
        </p:nvSpPr>
        <p:spPr>
          <a:xfrm>
            <a:off x="3383280" y="2843784"/>
            <a:ext cx="2468880" cy="274320"/>
          </a:xfrm>
          <a:prstGeom prst="rect">
            <a:avLst/>
          </a:prstGeom>
          <a:noFill/>
          <a:ln/>
        </p:spPr>
        <p:txBody>
          <a:bodyPr wrap="square" lIns="0" tIns="0" rIns="0" bIns="0" rtlCol="0" anchor="ctr"/>
          <a:lstStyle/>
          <a:p>
            <a:pPr algn="l" indent="0" marL="0">
              <a:buNone/>
            </a:pPr>
            <a:r>
              <a:rPr lang="en-US" sz="1000" dirty="0">
                <a:solidFill>
                  <a:srgbClr val="6EE7B7"/>
                </a:solidFill>
                <a:latin typeface="Calibri" pitchFamily="34" charset="0"/>
                <a:ea typeface="Calibri" pitchFamily="34" charset="-122"/>
                <a:cs typeface="Calibri" pitchFamily="34" charset="-120"/>
              </a:rPr>
              <a:t>✓  Strain tracking</a:t>
            </a:r>
            <a:endParaRPr lang="en-US" sz="1000" dirty="0"/>
          </a:p>
        </p:txBody>
      </p:sp>
      <p:sp>
        <p:nvSpPr>
          <p:cNvPr id="20" name="Text 18"/>
          <p:cNvSpPr/>
          <p:nvPr/>
        </p:nvSpPr>
        <p:spPr>
          <a:xfrm>
            <a:off x="3383280" y="3191256"/>
            <a:ext cx="2468880" cy="256032"/>
          </a:xfrm>
          <a:prstGeom prst="rect">
            <a:avLst/>
          </a:prstGeom>
          <a:noFill/>
          <a:ln/>
        </p:spPr>
        <p:txBody>
          <a:bodyPr wrap="square" lIns="0" tIns="0" rIns="0" bIns="0" rtlCol="0" anchor="ctr"/>
          <a:lstStyle/>
          <a:p>
            <a:pPr algn="l" indent="0" marL="0">
              <a:buNone/>
            </a:pPr>
            <a:r>
              <a:rPr lang="en-US" sz="1000" dirty="0">
                <a:solidFill>
                  <a:srgbClr val="FDA4AF"/>
                </a:solidFill>
                <a:latin typeface="Calibri" pitchFamily="34" charset="0"/>
                <a:ea typeface="Calibri" pitchFamily="34" charset="-122"/>
                <a:cs typeface="Calibri" pitchFamily="34" charset="-120"/>
              </a:rPr>
              <a:t>✗  No mental health</a:t>
            </a:r>
            <a:endParaRPr lang="en-US" sz="1000" dirty="0"/>
          </a:p>
        </p:txBody>
      </p:sp>
      <p:sp>
        <p:nvSpPr>
          <p:cNvPr id="21" name="Text 19"/>
          <p:cNvSpPr/>
          <p:nvPr/>
        </p:nvSpPr>
        <p:spPr>
          <a:xfrm>
            <a:off x="3383280" y="3511296"/>
            <a:ext cx="2468880" cy="256032"/>
          </a:xfrm>
          <a:prstGeom prst="rect">
            <a:avLst/>
          </a:prstGeom>
          <a:noFill/>
          <a:ln/>
        </p:spPr>
        <p:txBody>
          <a:bodyPr wrap="square" lIns="0" tIns="0" rIns="0" bIns="0" rtlCol="0" anchor="ctr"/>
          <a:lstStyle/>
          <a:p>
            <a:pPr algn="l" indent="0" marL="0">
              <a:buNone/>
            </a:pPr>
            <a:r>
              <a:rPr lang="en-US" sz="1000" dirty="0">
                <a:solidFill>
                  <a:srgbClr val="FDA4AF"/>
                </a:solidFill>
                <a:latin typeface="Calibri" pitchFamily="34" charset="0"/>
                <a:ea typeface="Calibri" pitchFamily="34" charset="-122"/>
                <a:cs typeface="Calibri" pitchFamily="34" charset="-120"/>
              </a:rPr>
              <a:t>✗  No AI counsellor</a:t>
            </a:r>
            <a:endParaRPr lang="en-US" sz="1000" dirty="0"/>
          </a:p>
        </p:txBody>
      </p:sp>
      <p:sp>
        <p:nvSpPr>
          <p:cNvPr id="22" name="Text 20"/>
          <p:cNvSpPr/>
          <p:nvPr/>
        </p:nvSpPr>
        <p:spPr>
          <a:xfrm>
            <a:off x="3383280" y="3831336"/>
            <a:ext cx="2468880" cy="256032"/>
          </a:xfrm>
          <a:prstGeom prst="rect">
            <a:avLst/>
          </a:prstGeom>
          <a:noFill/>
          <a:ln/>
        </p:spPr>
        <p:txBody>
          <a:bodyPr wrap="square" lIns="0" tIns="0" rIns="0" bIns="0" rtlCol="0" anchor="ctr"/>
          <a:lstStyle/>
          <a:p>
            <a:pPr algn="l" indent="0" marL="0">
              <a:buNone/>
            </a:pPr>
            <a:r>
              <a:rPr lang="en-US" sz="1000" dirty="0">
                <a:solidFill>
                  <a:srgbClr val="FDA4AF"/>
                </a:solidFill>
                <a:latin typeface="Calibri" pitchFamily="34" charset="0"/>
                <a:ea typeface="Calibri" pitchFamily="34" charset="-122"/>
                <a:cs typeface="Calibri" pitchFamily="34" charset="-120"/>
              </a:rPr>
              <a:t>✗  Just data, no context</a:t>
            </a:r>
            <a:endParaRPr lang="en-US" sz="1000" dirty="0"/>
          </a:p>
        </p:txBody>
      </p:sp>
      <p:sp>
        <p:nvSpPr>
          <p:cNvPr id="23" name="Shape 21"/>
          <p:cNvSpPr/>
          <p:nvPr/>
        </p:nvSpPr>
        <p:spPr>
          <a:xfrm>
            <a:off x="6172200" y="1143000"/>
            <a:ext cx="2743200" cy="3566160"/>
          </a:xfrm>
          <a:prstGeom prst="roundRect">
            <a:avLst>
              <a:gd name="adj" fmla="val 4667"/>
            </a:avLst>
          </a:prstGeom>
          <a:solidFill>
            <a:srgbClr val="7C3AED"/>
          </a:solidFill>
          <a:ln w="6350">
            <a:solidFill>
              <a:srgbClr val="C4B5FD"/>
            </a:solidFill>
            <a:prstDash val="solid"/>
          </a:ln>
        </p:spPr>
      </p:sp>
      <p:sp>
        <p:nvSpPr>
          <p:cNvPr id="24" name="Text 22"/>
          <p:cNvSpPr/>
          <p:nvPr/>
        </p:nvSpPr>
        <p:spPr>
          <a:xfrm>
            <a:off x="6172200" y="1188720"/>
            <a:ext cx="2743200" cy="411480"/>
          </a:xfrm>
          <a:prstGeom prst="rect">
            <a:avLst/>
          </a:prstGeom>
          <a:noFill/>
          <a:ln/>
        </p:spPr>
        <p:txBody>
          <a:bodyPr wrap="square" lIns="0" tIns="0" rIns="0" bIns="0" rtlCol="0" anchor="ctr"/>
          <a:lstStyle/>
          <a:p>
            <a:pPr algn="ctr" indent="0" marL="0">
              <a:buNone/>
            </a:pPr>
            <a:r>
              <a:rPr lang="en-US" sz="1800" dirty="0">
                <a:solidFill>
                  <a:srgbClr val="F1F5F9"/>
                </a:solidFill>
                <a:latin typeface="Calibri" pitchFamily="34" charset="0"/>
                <a:ea typeface="Calibri" pitchFamily="34" charset="-122"/>
                <a:cs typeface="Calibri" pitchFamily="34" charset="-120"/>
              </a:rPr>
              <a:t>✦</a:t>
            </a:r>
            <a:endParaRPr lang="en-US" sz="1800" dirty="0"/>
          </a:p>
        </p:txBody>
      </p:sp>
      <p:sp>
        <p:nvSpPr>
          <p:cNvPr id="25" name="Text 23"/>
          <p:cNvSpPr/>
          <p:nvPr/>
        </p:nvSpPr>
        <p:spPr>
          <a:xfrm>
            <a:off x="6172200" y="1600200"/>
            <a:ext cx="2743200" cy="274320"/>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AURA</a:t>
            </a:r>
            <a:endParaRPr lang="en-US" sz="1300" dirty="0"/>
          </a:p>
        </p:txBody>
      </p:sp>
      <p:sp>
        <p:nvSpPr>
          <p:cNvPr id="26" name="Text 24"/>
          <p:cNvSpPr/>
          <p:nvPr/>
        </p:nvSpPr>
        <p:spPr>
          <a:xfrm>
            <a:off x="6172200" y="1856232"/>
            <a:ext cx="2743200" cy="201168"/>
          </a:xfrm>
          <a:prstGeom prst="rect">
            <a:avLst/>
          </a:prstGeom>
          <a:noFill/>
          <a:ln/>
        </p:spPr>
        <p:txBody>
          <a:bodyPr wrap="square" lIns="0" tIns="0" rIns="0" bIns="0" rtlCol="0" anchor="ctr"/>
          <a:lstStyle/>
          <a:p>
            <a:pPr algn="ctr" indent="0" marL="0">
              <a:buNone/>
            </a:pPr>
            <a:r>
              <a:rPr lang="en-US" sz="900" i="1" dirty="0">
                <a:solidFill>
                  <a:srgbClr val="D9F99D"/>
                </a:solidFill>
                <a:latin typeface="Calibri" pitchFamily="34" charset="0"/>
                <a:ea typeface="Calibri" pitchFamily="34" charset="-122"/>
                <a:cs typeface="Calibri" pitchFamily="34" charset="-120"/>
              </a:rPr>
              <a:t>The unified platform</a:t>
            </a:r>
            <a:endParaRPr lang="en-US" sz="900" dirty="0"/>
          </a:p>
        </p:txBody>
      </p:sp>
      <p:sp>
        <p:nvSpPr>
          <p:cNvPr id="27" name="Text 25"/>
          <p:cNvSpPr/>
          <p:nvPr/>
        </p:nvSpPr>
        <p:spPr>
          <a:xfrm>
            <a:off x="6309360" y="2148840"/>
            <a:ext cx="2468880" cy="274320"/>
          </a:xfrm>
          <a:prstGeom prst="rect">
            <a:avLst/>
          </a:prstGeom>
          <a:noFill/>
          <a:ln/>
        </p:spPr>
        <p:txBody>
          <a:bodyPr wrap="square" lIns="0" tIns="0" rIns="0" bIns="0" rtlCol="0" anchor="ctr"/>
          <a:lstStyle/>
          <a:p>
            <a:pPr algn="l" indent="0" marL="0">
              <a:buNone/>
            </a:pPr>
            <a:r>
              <a:rPr lang="en-US" sz="1000" dirty="0">
                <a:solidFill>
                  <a:srgbClr val="D9F99D"/>
                </a:solidFill>
                <a:latin typeface="Calibri" pitchFamily="34" charset="0"/>
                <a:ea typeface="Calibri" pitchFamily="34" charset="-122"/>
                <a:cs typeface="Calibri" pitchFamily="34" charset="-120"/>
              </a:rPr>
              <a:t>✓  AI counsellor + health data</a:t>
            </a:r>
            <a:endParaRPr lang="en-US" sz="1000" dirty="0"/>
          </a:p>
        </p:txBody>
      </p:sp>
      <p:sp>
        <p:nvSpPr>
          <p:cNvPr id="28" name="Text 26"/>
          <p:cNvSpPr/>
          <p:nvPr/>
        </p:nvSpPr>
        <p:spPr>
          <a:xfrm>
            <a:off x="6309360" y="2496312"/>
            <a:ext cx="2468880" cy="274320"/>
          </a:xfrm>
          <a:prstGeom prst="rect">
            <a:avLst/>
          </a:prstGeom>
          <a:noFill/>
          <a:ln/>
        </p:spPr>
        <p:txBody>
          <a:bodyPr wrap="square" lIns="0" tIns="0" rIns="0" bIns="0" rtlCol="0" anchor="ctr"/>
          <a:lstStyle/>
          <a:p>
            <a:pPr algn="l" indent="0" marL="0">
              <a:buNone/>
            </a:pPr>
            <a:r>
              <a:rPr lang="en-US" sz="1000" dirty="0">
                <a:solidFill>
                  <a:srgbClr val="D9F99D"/>
                </a:solidFill>
                <a:latin typeface="Calibri" pitchFamily="34" charset="0"/>
                <a:ea typeface="Calibri" pitchFamily="34" charset="-122"/>
                <a:cs typeface="Calibri" pitchFamily="34" charset="-120"/>
              </a:rPr>
              <a:t>✓  Personalised to YOU</a:t>
            </a:r>
            <a:endParaRPr lang="en-US" sz="1000" dirty="0"/>
          </a:p>
        </p:txBody>
      </p:sp>
      <p:sp>
        <p:nvSpPr>
          <p:cNvPr id="29" name="Text 27"/>
          <p:cNvSpPr/>
          <p:nvPr/>
        </p:nvSpPr>
        <p:spPr>
          <a:xfrm>
            <a:off x="6309360" y="2843784"/>
            <a:ext cx="2468880" cy="274320"/>
          </a:xfrm>
          <a:prstGeom prst="rect">
            <a:avLst/>
          </a:prstGeom>
          <a:noFill/>
          <a:ln/>
        </p:spPr>
        <p:txBody>
          <a:bodyPr wrap="square" lIns="0" tIns="0" rIns="0" bIns="0" rtlCol="0" anchor="ctr"/>
          <a:lstStyle/>
          <a:p>
            <a:pPr algn="l" indent="0" marL="0">
              <a:buNone/>
            </a:pPr>
            <a:r>
              <a:rPr lang="en-US" sz="1000" dirty="0">
                <a:solidFill>
                  <a:srgbClr val="D9F99D"/>
                </a:solidFill>
                <a:latin typeface="Calibri" pitchFamily="34" charset="0"/>
                <a:ea typeface="Calibri" pitchFamily="34" charset="-122"/>
                <a:cs typeface="Calibri" pitchFamily="34" charset="-120"/>
              </a:rPr>
              <a:t>✓  One subscription</a:t>
            </a:r>
            <a:endParaRPr lang="en-US" sz="1000" dirty="0"/>
          </a:p>
        </p:txBody>
      </p:sp>
      <p:sp>
        <p:nvSpPr>
          <p:cNvPr id="30" name="Text 28"/>
          <p:cNvSpPr/>
          <p:nvPr/>
        </p:nvSpPr>
        <p:spPr>
          <a:xfrm>
            <a:off x="6172200" y="4251960"/>
            <a:ext cx="2743200" cy="274320"/>
          </a:xfrm>
          <a:prstGeom prst="rect">
            <a:avLst/>
          </a:prstGeom>
          <a:noFill/>
          <a:ln/>
        </p:spPr>
        <p:txBody>
          <a:bodyPr wrap="square" lIns="0" tIns="0" rIns="0" bIns="0" rtlCol="0" anchor="ctr"/>
          <a:lstStyle/>
          <a:p>
            <a:pPr algn="ctr" indent="0" marL="0">
              <a:buNone/>
            </a:pPr>
            <a:r>
              <a:rPr lang="en-US" sz="900" i="1" dirty="0">
                <a:solidFill>
                  <a:srgbClr val="D9F99D"/>
                </a:solidFill>
                <a:latin typeface="Calibri" pitchFamily="34" charset="0"/>
                <a:ea typeface="Calibri" pitchFamily="34" charset="-122"/>
                <a:cs typeface="Calibri" pitchFamily="34" charset="-120"/>
              </a:rPr>
              <a:t>The difference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400800" y="1828800"/>
            <a:ext cx="2743200" cy="2743200"/>
          </a:xfrm>
          <a:prstGeom prst="ellipse">
            <a:avLst/>
          </a:prstGeom>
          <a:solidFill>
            <a:srgbClr val="7C3AED">
              <a:alpha val="18000"/>
            </a:srgbClr>
          </a:solidFill>
          <a:ln w="12700">
            <a:solidFill>
              <a:srgbClr val="7C3AED"/>
            </a:solidFill>
            <a:prstDash val="solid"/>
          </a:ln>
        </p:spPr>
      </p:sp>
      <p:sp>
        <p:nvSpPr>
          <p:cNvPr id="3" name="Text 1"/>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800" b="1" dirty="0">
                <a:solidFill>
                  <a:srgbClr val="F1F5F9"/>
                </a:solidFill>
                <a:latin typeface="Calibri" pitchFamily="34" charset="0"/>
                <a:ea typeface="Calibri" pitchFamily="34" charset="-122"/>
                <a:cs typeface="Calibri" pitchFamily="34" charset="-120"/>
              </a:rPr>
              <a:t>Live demonstration</a:t>
            </a:r>
            <a:endParaRPr lang="en-US" sz="2800" dirty="0"/>
          </a:p>
        </p:txBody>
      </p:sp>
      <p:sp>
        <p:nvSpPr>
          <p:cNvPr id="4" name="Shape 2"/>
          <p:cNvSpPr/>
          <p:nvPr/>
        </p:nvSpPr>
        <p:spPr>
          <a:xfrm>
            <a:off x="365760" y="1234440"/>
            <a:ext cx="384048" cy="384048"/>
          </a:xfrm>
          <a:prstGeom prst="roundRect">
            <a:avLst>
              <a:gd name="adj" fmla="val 47619"/>
            </a:avLst>
          </a:prstGeom>
          <a:solidFill>
            <a:srgbClr val="7C3AED"/>
          </a:solidFill>
          <a:ln w="6350">
            <a:solidFill>
              <a:srgbClr val="7C3AED"/>
            </a:solidFill>
            <a:prstDash val="solid"/>
          </a:ln>
        </p:spPr>
      </p:sp>
      <p:sp>
        <p:nvSpPr>
          <p:cNvPr id="5" name="Text 3"/>
          <p:cNvSpPr/>
          <p:nvPr/>
        </p:nvSpPr>
        <p:spPr>
          <a:xfrm>
            <a:off x="365760" y="1234440"/>
            <a:ext cx="384048" cy="384048"/>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868680" y="1261872"/>
            <a:ext cx="2286000" cy="201168"/>
          </a:xfrm>
          <a:prstGeom prst="rect">
            <a:avLst/>
          </a:prstGeom>
          <a:noFill/>
          <a:ln/>
        </p:spPr>
        <p:txBody>
          <a:bodyPr wrap="square" lIns="0" tIns="0" rIns="0" bIns="0" rtlCol="0" anchor="ctr"/>
          <a:lstStyle/>
          <a:p>
            <a:pPr algn="l" indent="0" marL="0">
              <a:buNone/>
            </a:pPr>
            <a:r>
              <a:rPr lang="en-US" sz="1200" b="1" dirty="0">
                <a:solidFill>
                  <a:srgbClr val="F1F5F9"/>
                </a:solidFill>
                <a:latin typeface="Calibri" pitchFamily="34" charset="0"/>
                <a:ea typeface="Calibri" pitchFamily="34" charset="-122"/>
                <a:cs typeface="Calibri" pitchFamily="34" charset="-120"/>
              </a:rPr>
              <a:t>Onboarding</a:t>
            </a:r>
            <a:endParaRPr lang="en-US" sz="1200" dirty="0"/>
          </a:p>
        </p:txBody>
      </p:sp>
      <p:sp>
        <p:nvSpPr>
          <p:cNvPr id="7" name="Text 5"/>
          <p:cNvSpPr/>
          <p:nvPr/>
        </p:nvSpPr>
        <p:spPr>
          <a:xfrm>
            <a:off x="868680" y="1463040"/>
            <a:ext cx="68580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Create profile → connect devices → set goals</a:t>
            </a:r>
            <a:endParaRPr lang="en-US" sz="1000" dirty="0"/>
          </a:p>
        </p:txBody>
      </p:sp>
      <p:sp>
        <p:nvSpPr>
          <p:cNvPr id="8" name="Shape 6"/>
          <p:cNvSpPr/>
          <p:nvPr/>
        </p:nvSpPr>
        <p:spPr>
          <a:xfrm>
            <a:off x="365760" y="1947672"/>
            <a:ext cx="384048" cy="384048"/>
          </a:xfrm>
          <a:prstGeom prst="roundRect">
            <a:avLst>
              <a:gd name="adj" fmla="val 47619"/>
            </a:avLst>
          </a:prstGeom>
          <a:solidFill>
            <a:srgbClr val="7C3AED"/>
          </a:solidFill>
          <a:ln w="6350">
            <a:solidFill>
              <a:srgbClr val="7C3AED"/>
            </a:solidFill>
            <a:prstDash val="solid"/>
          </a:ln>
        </p:spPr>
      </p:sp>
      <p:sp>
        <p:nvSpPr>
          <p:cNvPr id="9" name="Text 7"/>
          <p:cNvSpPr/>
          <p:nvPr/>
        </p:nvSpPr>
        <p:spPr>
          <a:xfrm>
            <a:off x="365760" y="1947672"/>
            <a:ext cx="384048" cy="384048"/>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868680" y="1975104"/>
            <a:ext cx="2286000" cy="201168"/>
          </a:xfrm>
          <a:prstGeom prst="rect">
            <a:avLst/>
          </a:prstGeom>
          <a:noFill/>
          <a:ln/>
        </p:spPr>
        <p:txBody>
          <a:bodyPr wrap="square" lIns="0" tIns="0" rIns="0" bIns="0" rtlCol="0" anchor="ctr"/>
          <a:lstStyle/>
          <a:p>
            <a:pPr algn="l" indent="0" marL="0">
              <a:buNone/>
            </a:pPr>
            <a:r>
              <a:rPr lang="en-US" sz="1200" b="1" dirty="0">
                <a:solidFill>
                  <a:srgbClr val="F1F5F9"/>
                </a:solidFill>
                <a:latin typeface="Calibri" pitchFamily="34" charset="0"/>
                <a:ea typeface="Calibri" pitchFamily="34" charset="-122"/>
                <a:cs typeface="Calibri" pitchFamily="34" charset="-120"/>
              </a:rPr>
              <a:t>Dashboard</a:t>
            </a:r>
            <a:endParaRPr lang="en-US" sz="1200" dirty="0"/>
          </a:p>
        </p:txBody>
      </p:sp>
      <p:sp>
        <p:nvSpPr>
          <p:cNvPr id="11" name="Text 9"/>
          <p:cNvSpPr/>
          <p:nvPr/>
        </p:nvSpPr>
        <p:spPr>
          <a:xfrm>
            <a:off x="868680" y="2176272"/>
            <a:ext cx="68580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Wellness ring score, stats, mood chart</a:t>
            </a:r>
            <a:endParaRPr lang="en-US" sz="1000" dirty="0"/>
          </a:p>
        </p:txBody>
      </p:sp>
      <p:sp>
        <p:nvSpPr>
          <p:cNvPr id="12" name="Shape 10"/>
          <p:cNvSpPr/>
          <p:nvPr/>
        </p:nvSpPr>
        <p:spPr>
          <a:xfrm>
            <a:off x="365760" y="2660904"/>
            <a:ext cx="384048" cy="384048"/>
          </a:xfrm>
          <a:prstGeom prst="roundRect">
            <a:avLst>
              <a:gd name="adj" fmla="val 47619"/>
            </a:avLst>
          </a:prstGeom>
          <a:solidFill>
            <a:srgbClr val="7C3AED"/>
          </a:solidFill>
          <a:ln w="6350">
            <a:solidFill>
              <a:srgbClr val="7C3AED"/>
            </a:solidFill>
            <a:prstDash val="solid"/>
          </a:ln>
        </p:spPr>
      </p:sp>
      <p:sp>
        <p:nvSpPr>
          <p:cNvPr id="13" name="Text 11"/>
          <p:cNvSpPr/>
          <p:nvPr/>
        </p:nvSpPr>
        <p:spPr>
          <a:xfrm>
            <a:off x="365760" y="2660904"/>
            <a:ext cx="384048" cy="384048"/>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868680" y="2688336"/>
            <a:ext cx="2286000" cy="201168"/>
          </a:xfrm>
          <a:prstGeom prst="rect">
            <a:avLst/>
          </a:prstGeom>
          <a:noFill/>
          <a:ln/>
        </p:spPr>
        <p:txBody>
          <a:bodyPr wrap="square" lIns="0" tIns="0" rIns="0" bIns="0" rtlCol="0" anchor="ctr"/>
          <a:lstStyle/>
          <a:p>
            <a:pPr algn="l" indent="0" marL="0">
              <a:buNone/>
            </a:pPr>
            <a:r>
              <a:rPr lang="en-US" sz="1200" b="1" dirty="0">
                <a:solidFill>
                  <a:srgbClr val="F1F5F9"/>
                </a:solidFill>
                <a:latin typeface="Calibri" pitchFamily="34" charset="0"/>
                <a:ea typeface="Calibri" pitchFamily="34" charset="-122"/>
                <a:cs typeface="Calibri" pitchFamily="34" charset="-120"/>
              </a:rPr>
              <a:t>AI Counselor</a:t>
            </a:r>
            <a:endParaRPr lang="en-US" sz="1200" dirty="0"/>
          </a:p>
        </p:txBody>
      </p:sp>
      <p:sp>
        <p:nvSpPr>
          <p:cNvPr id="15" name="Text 13"/>
          <p:cNvSpPr/>
          <p:nvPr/>
        </p:nvSpPr>
        <p:spPr>
          <a:xfrm>
            <a:off x="868680" y="2889504"/>
            <a:ext cx="68580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Chat with AURA about stress or sleep</a:t>
            </a:r>
            <a:endParaRPr lang="en-US" sz="1000" dirty="0"/>
          </a:p>
        </p:txBody>
      </p:sp>
      <p:sp>
        <p:nvSpPr>
          <p:cNvPr id="16" name="Shape 14"/>
          <p:cNvSpPr/>
          <p:nvPr/>
        </p:nvSpPr>
        <p:spPr>
          <a:xfrm>
            <a:off x="365760" y="3374136"/>
            <a:ext cx="384048" cy="384048"/>
          </a:xfrm>
          <a:prstGeom prst="roundRect">
            <a:avLst>
              <a:gd name="adj" fmla="val 47619"/>
            </a:avLst>
          </a:prstGeom>
          <a:solidFill>
            <a:srgbClr val="7C3AED"/>
          </a:solidFill>
          <a:ln w="6350">
            <a:solidFill>
              <a:srgbClr val="7C3AED"/>
            </a:solidFill>
            <a:prstDash val="solid"/>
          </a:ln>
        </p:spPr>
      </p:sp>
      <p:sp>
        <p:nvSpPr>
          <p:cNvPr id="17" name="Text 15"/>
          <p:cNvSpPr/>
          <p:nvPr/>
        </p:nvSpPr>
        <p:spPr>
          <a:xfrm>
            <a:off x="365760" y="3374136"/>
            <a:ext cx="384048" cy="384048"/>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868680" y="3401568"/>
            <a:ext cx="2286000" cy="201168"/>
          </a:xfrm>
          <a:prstGeom prst="rect">
            <a:avLst/>
          </a:prstGeom>
          <a:noFill/>
          <a:ln/>
        </p:spPr>
        <p:txBody>
          <a:bodyPr wrap="square" lIns="0" tIns="0" rIns="0" bIns="0" rtlCol="0" anchor="ctr"/>
          <a:lstStyle/>
          <a:p>
            <a:pPr algn="l" indent="0" marL="0">
              <a:buNone/>
            </a:pPr>
            <a:r>
              <a:rPr lang="en-US" sz="1200" b="1" dirty="0">
                <a:solidFill>
                  <a:srgbClr val="F1F5F9"/>
                </a:solidFill>
                <a:latin typeface="Calibri" pitchFamily="34" charset="0"/>
                <a:ea typeface="Calibri" pitchFamily="34" charset="-122"/>
                <a:cs typeface="Calibri" pitchFamily="34" charset="-120"/>
              </a:rPr>
              <a:t>Health Log</a:t>
            </a:r>
            <a:endParaRPr lang="en-US" sz="1200" dirty="0"/>
          </a:p>
        </p:txBody>
      </p:sp>
      <p:sp>
        <p:nvSpPr>
          <p:cNvPr id="19" name="Text 17"/>
          <p:cNvSpPr/>
          <p:nvPr/>
        </p:nvSpPr>
        <p:spPr>
          <a:xfrm>
            <a:off x="868680" y="3602736"/>
            <a:ext cx="68580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Log today's steps, water, sleep, energy</a:t>
            </a:r>
            <a:endParaRPr lang="en-US" sz="1000" dirty="0"/>
          </a:p>
        </p:txBody>
      </p:sp>
      <p:sp>
        <p:nvSpPr>
          <p:cNvPr id="20" name="Shape 18"/>
          <p:cNvSpPr/>
          <p:nvPr/>
        </p:nvSpPr>
        <p:spPr>
          <a:xfrm>
            <a:off x="365760" y="4087368"/>
            <a:ext cx="384048" cy="384048"/>
          </a:xfrm>
          <a:prstGeom prst="roundRect">
            <a:avLst>
              <a:gd name="adj" fmla="val 47619"/>
            </a:avLst>
          </a:prstGeom>
          <a:solidFill>
            <a:srgbClr val="7C3AED"/>
          </a:solidFill>
          <a:ln w="6350">
            <a:solidFill>
              <a:srgbClr val="7C3AED"/>
            </a:solidFill>
            <a:prstDash val="solid"/>
          </a:ln>
        </p:spPr>
      </p:sp>
      <p:sp>
        <p:nvSpPr>
          <p:cNvPr id="21" name="Text 19"/>
          <p:cNvSpPr/>
          <p:nvPr/>
        </p:nvSpPr>
        <p:spPr>
          <a:xfrm>
            <a:off x="365760" y="4087368"/>
            <a:ext cx="384048" cy="384048"/>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868680" y="4114800"/>
            <a:ext cx="2286000" cy="201168"/>
          </a:xfrm>
          <a:prstGeom prst="rect">
            <a:avLst/>
          </a:prstGeom>
          <a:noFill/>
          <a:ln/>
        </p:spPr>
        <p:txBody>
          <a:bodyPr wrap="square" lIns="0" tIns="0" rIns="0" bIns="0" rtlCol="0" anchor="ctr"/>
          <a:lstStyle/>
          <a:p>
            <a:pPr algn="l" indent="0" marL="0">
              <a:buNone/>
            </a:pPr>
            <a:r>
              <a:rPr lang="en-US" sz="1200" b="1" dirty="0">
                <a:solidFill>
                  <a:srgbClr val="F1F5F9"/>
                </a:solidFill>
                <a:latin typeface="Calibri" pitchFamily="34" charset="0"/>
                <a:ea typeface="Calibri" pitchFamily="34" charset="-122"/>
                <a:cs typeface="Calibri" pitchFamily="34" charset="-120"/>
              </a:rPr>
              <a:t>Goals</a:t>
            </a:r>
            <a:endParaRPr lang="en-US" sz="1200" dirty="0"/>
          </a:p>
        </p:txBody>
      </p:sp>
      <p:sp>
        <p:nvSpPr>
          <p:cNvPr id="23" name="Text 21"/>
          <p:cNvSpPr/>
          <p:nvPr/>
        </p:nvSpPr>
        <p:spPr>
          <a:xfrm>
            <a:off x="868680" y="4315968"/>
            <a:ext cx="6858000" cy="182880"/>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Add a goal, drag to reorder</a:t>
            </a:r>
            <a:endParaRPr lang="en-US" sz="1000" dirty="0"/>
          </a:p>
        </p:txBody>
      </p:sp>
      <p:sp>
        <p:nvSpPr>
          <p:cNvPr id="24" name="Text 22"/>
          <p:cNvSpPr/>
          <p:nvPr/>
        </p:nvSpPr>
        <p:spPr>
          <a:xfrm>
            <a:off x="457200" y="4754880"/>
            <a:ext cx="8229600" cy="256032"/>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 Switch to browser for live demo ]</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457200"/>
            <a:ext cx="2286000" cy="2286000"/>
          </a:xfrm>
          <a:prstGeom prst="ellipse">
            <a:avLst/>
          </a:prstGeom>
          <a:solidFill>
            <a:srgbClr val="D97706">
              <a:alpha val="15000"/>
            </a:srgbClr>
          </a:solidFill>
          <a:ln w="12700">
            <a:solidFill>
              <a:srgbClr val="D97706"/>
            </a:solidFill>
            <a:prstDash val="solid"/>
          </a:ln>
        </p:spPr>
      </p:sp>
      <p:sp>
        <p:nvSpPr>
          <p:cNvPr id="3" name="Text 1"/>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800" b="1" dirty="0">
                <a:solidFill>
                  <a:srgbClr val="F1F5F9"/>
                </a:solidFill>
                <a:latin typeface="Calibri" pitchFamily="34" charset="0"/>
                <a:ea typeface="Calibri" pitchFamily="34" charset="-122"/>
                <a:cs typeface="Calibri" pitchFamily="34" charset="-120"/>
              </a:rPr>
              <a:t>File structure &amp; architecture</a:t>
            </a:r>
            <a:endParaRPr lang="en-US" sz="2800" dirty="0"/>
          </a:p>
        </p:txBody>
      </p:sp>
      <p:sp>
        <p:nvSpPr>
          <p:cNvPr id="4" name="Shape 2"/>
          <p:cNvSpPr/>
          <p:nvPr/>
        </p:nvSpPr>
        <p:spPr>
          <a:xfrm>
            <a:off x="365760" y="1234440"/>
            <a:ext cx="2743200" cy="3566160"/>
          </a:xfrm>
          <a:prstGeom prst="roundRect">
            <a:avLst>
              <a:gd name="adj" fmla="val 4000"/>
            </a:avLst>
          </a:prstGeom>
          <a:solidFill>
            <a:srgbClr val="131C2E"/>
          </a:solidFill>
          <a:ln w="6350">
            <a:solidFill>
              <a:srgbClr val="FCD34D"/>
            </a:solidFill>
            <a:prstDash val="solid"/>
          </a:ln>
        </p:spPr>
      </p:sp>
      <p:sp>
        <p:nvSpPr>
          <p:cNvPr id="5" name="Text 3"/>
          <p:cNvSpPr/>
          <p:nvPr/>
        </p:nvSpPr>
        <p:spPr>
          <a:xfrm>
            <a:off x="365760" y="1298448"/>
            <a:ext cx="2743200" cy="457200"/>
          </a:xfrm>
          <a:prstGeom prst="rect">
            <a:avLst/>
          </a:prstGeom>
          <a:noFill/>
          <a:ln/>
        </p:spPr>
        <p:txBody>
          <a:bodyPr wrap="square" lIns="0" tIns="0" rIns="0" bIns="0" rtlCol="0" anchor="ctr"/>
          <a:lstStyle/>
          <a:p>
            <a:pPr algn="ctr" indent="0" marL="0">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6" name="Text 4"/>
          <p:cNvSpPr/>
          <p:nvPr/>
        </p:nvSpPr>
        <p:spPr>
          <a:xfrm>
            <a:off x="365760" y="1737360"/>
            <a:ext cx="2743200" cy="274320"/>
          </a:xfrm>
          <a:prstGeom prst="rect">
            <a:avLst/>
          </a:prstGeom>
          <a:noFill/>
          <a:ln/>
        </p:spPr>
        <p:txBody>
          <a:bodyPr wrap="square" lIns="0" tIns="0" rIns="0" bIns="0" rtlCol="0" anchor="ctr"/>
          <a:lstStyle/>
          <a:p>
            <a:pPr algn="ctr" indent="0" marL="0">
              <a:buNone/>
            </a:pPr>
            <a:r>
              <a:rPr lang="en-US" sz="1400" b="1" dirty="0">
                <a:solidFill>
                  <a:srgbClr val="FCD34D"/>
                </a:solidFill>
                <a:latin typeface="Calibri" pitchFamily="34" charset="0"/>
                <a:ea typeface="Calibri" pitchFamily="34" charset="-122"/>
                <a:cs typeface="Calibri" pitchFamily="34" charset="-120"/>
              </a:rPr>
              <a:t>index.html</a:t>
            </a:r>
            <a:endParaRPr lang="en-US" sz="1400" dirty="0"/>
          </a:p>
        </p:txBody>
      </p:sp>
      <p:sp>
        <p:nvSpPr>
          <p:cNvPr id="7" name="Text 5"/>
          <p:cNvSpPr/>
          <p:nvPr/>
        </p:nvSpPr>
        <p:spPr>
          <a:xfrm>
            <a:off x="365760" y="2011680"/>
            <a:ext cx="2743200" cy="219456"/>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516 lines</a:t>
            </a:r>
            <a:endParaRPr lang="en-US" sz="1000" dirty="0"/>
          </a:p>
        </p:txBody>
      </p:sp>
      <p:sp>
        <p:nvSpPr>
          <p:cNvPr id="8" name="Shape 6"/>
          <p:cNvSpPr/>
          <p:nvPr/>
        </p:nvSpPr>
        <p:spPr>
          <a:xfrm>
            <a:off x="502920" y="2286000"/>
            <a:ext cx="2468880" cy="0"/>
          </a:xfrm>
          <a:prstGeom prst="line">
            <a:avLst/>
          </a:prstGeom>
          <a:noFill/>
          <a:ln w="6350">
            <a:solidFill>
              <a:srgbClr val="1E3A5F"/>
            </a:solidFill>
            <a:prstDash val="solid"/>
          </a:ln>
        </p:spPr>
      </p:sp>
      <p:sp>
        <p:nvSpPr>
          <p:cNvPr id="9" name="Text 7"/>
          <p:cNvSpPr/>
          <p:nvPr/>
        </p:nvSpPr>
        <p:spPr>
          <a:xfrm>
            <a:off x="502920" y="2359152"/>
            <a:ext cx="2468880" cy="1371600"/>
          </a:xfrm>
          <a:prstGeom prst="rect">
            <a:avLst/>
          </a:prstGeom>
          <a:noFill/>
          <a:ln/>
        </p:spPr>
        <p:txBody>
          <a:bodyPr wrap="square" lIns="0" tIns="0" rIns="0" bIns="0" rtlCol="0" anchor="t"/>
          <a:lstStyle/>
          <a:p>
            <a:pPr algn="l" indent="0" marL="0">
              <a:buNone/>
            </a:pPr>
            <a:r>
              <a:rPr lang="en-US" sz="950" dirty="0">
                <a:solidFill>
                  <a:srgbClr val="94A3B8"/>
                </a:solidFill>
                <a:latin typeface="Calibri" pitchFamily="34" charset="0"/>
                <a:ea typeface="Calibri" pitchFamily="34" charset="-122"/>
                <a:cs typeface="Calibri" pitchFamily="34" charset="-120"/>
              </a:rPr>
              <a:t>All 6 screens and tabs. 3 HTML forms. Canvas elements. Audio element. Navigation structure.</a:t>
            </a:r>
            <a:endParaRPr lang="en-US" sz="950" dirty="0"/>
          </a:p>
        </p:txBody>
      </p:sp>
      <p:sp>
        <p:nvSpPr>
          <p:cNvPr id="10" name="Shape 8"/>
          <p:cNvSpPr/>
          <p:nvPr/>
        </p:nvSpPr>
        <p:spPr>
          <a:xfrm>
            <a:off x="3291840" y="1234440"/>
            <a:ext cx="2743200" cy="3566160"/>
          </a:xfrm>
          <a:prstGeom prst="roundRect">
            <a:avLst>
              <a:gd name="adj" fmla="val 4000"/>
            </a:avLst>
          </a:prstGeom>
          <a:solidFill>
            <a:srgbClr val="131C2E"/>
          </a:solidFill>
          <a:ln w="6350">
            <a:solidFill>
              <a:srgbClr val="6EE7B7"/>
            </a:solidFill>
            <a:prstDash val="solid"/>
          </a:ln>
        </p:spPr>
      </p:sp>
      <p:sp>
        <p:nvSpPr>
          <p:cNvPr id="11" name="Text 9"/>
          <p:cNvSpPr/>
          <p:nvPr/>
        </p:nvSpPr>
        <p:spPr>
          <a:xfrm>
            <a:off x="3291840" y="1298448"/>
            <a:ext cx="2743200" cy="457200"/>
          </a:xfrm>
          <a:prstGeom prst="rect">
            <a:avLst/>
          </a:prstGeom>
          <a:noFill/>
          <a:ln/>
        </p:spPr>
        <p:txBody>
          <a:bodyPr wrap="square" lIns="0" tIns="0" rIns="0" bIns="0" rtlCol="0" anchor="ctr"/>
          <a:lstStyle/>
          <a:p>
            <a:pPr algn="ctr" indent="0" marL="0">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291840" y="1737360"/>
            <a:ext cx="2743200" cy="274320"/>
          </a:xfrm>
          <a:prstGeom prst="rect">
            <a:avLst/>
          </a:prstGeom>
          <a:noFill/>
          <a:ln/>
        </p:spPr>
        <p:txBody>
          <a:bodyPr wrap="square" lIns="0" tIns="0" rIns="0" bIns="0" rtlCol="0" anchor="ctr"/>
          <a:lstStyle/>
          <a:p>
            <a:pPr algn="ctr" indent="0" marL="0">
              <a:buNone/>
            </a:pPr>
            <a:r>
              <a:rPr lang="en-US" sz="1400" b="1" dirty="0">
                <a:solidFill>
                  <a:srgbClr val="6EE7B7"/>
                </a:solidFill>
                <a:latin typeface="Calibri" pitchFamily="34" charset="0"/>
                <a:ea typeface="Calibri" pitchFamily="34" charset="-122"/>
                <a:cs typeface="Calibri" pitchFamily="34" charset="-120"/>
              </a:rPr>
              <a:t>style.css</a:t>
            </a:r>
            <a:endParaRPr lang="en-US" sz="1400" dirty="0"/>
          </a:p>
        </p:txBody>
      </p:sp>
      <p:sp>
        <p:nvSpPr>
          <p:cNvPr id="13" name="Text 11"/>
          <p:cNvSpPr/>
          <p:nvPr/>
        </p:nvSpPr>
        <p:spPr>
          <a:xfrm>
            <a:off x="3291840" y="2011680"/>
            <a:ext cx="2743200" cy="219456"/>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868 lines</a:t>
            </a:r>
            <a:endParaRPr lang="en-US" sz="1000" dirty="0"/>
          </a:p>
        </p:txBody>
      </p:sp>
      <p:sp>
        <p:nvSpPr>
          <p:cNvPr id="14" name="Shape 12"/>
          <p:cNvSpPr/>
          <p:nvPr/>
        </p:nvSpPr>
        <p:spPr>
          <a:xfrm>
            <a:off x="3429000" y="2286000"/>
            <a:ext cx="2468880" cy="0"/>
          </a:xfrm>
          <a:prstGeom prst="line">
            <a:avLst/>
          </a:prstGeom>
          <a:noFill/>
          <a:ln w="6350">
            <a:solidFill>
              <a:srgbClr val="1E3A5F"/>
            </a:solidFill>
            <a:prstDash val="solid"/>
          </a:ln>
        </p:spPr>
      </p:sp>
      <p:sp>
        <p:nvSpPr>
          <p:cNvPr id="15" name="Text 13"/>
          <p:cNvSpPr/>
          <p:nvPr/>
        </p:nvSpPr>
        <p:spPr>
          <a:xfrm>
            <a:off x="3429000" y="2359152"/>
            <a:ext cx="2468880" cy="1371600"/>
          </a:xfrm>
          <a:prstGeom prst="rect">
            <a:avLst/>
          </a:prstGeom>
          <a:noFill/>
          <a:ln/>
        </p:spPr>
        <p:txBody>
          <a:bodyPr wrap="square" lIns="0" tIns="0" rIns="0" bIns="0" rtlCol="0" anchor="t"/>
          <a:lstStyle/>
          <a:p>
            <a:pPr algn="l" indent="0" marL="0">
              <a:buNone/>
            </a:pPr>
            <a:r>
              <a:rPr lang="en-US" sz="950" dirty="0">
                <a:solidFill>
                  <a:srgbClr val="94A3B8"/>
                </a:solidFill>
                <a:latin typeface="Calibri" pitchFamily="34" charset="0"/>
                <a:ea typeface="Calibri" pitchFamily="34" charset="-122"/>
                <a:cs typeface="Calibri" pitchFamily="34" charset="-120"/>
              </a:rPr>
              <a:t>Dark navy theme with CSS variables. Flexbox &amp; Grid layouts. Animations. Responsive design.</a:t>
            </a:r>
            <a:endParaRPr lang="en-US" sz="950" dirty="0"/>
          </a:p>
        </p:txBody>
      </p:sp>
      <p:sp>
        <p:nvSpPr>
          <p:cNvPr id="16" name="Shape 14"/>
          <p:cNvSpPr/>
          <p:nvPr/>
        </p:nvSpPr>
        <p:spPr>
          <a:xfrm>
            <a:off x="6217920" y="1234440"/>
            <a:ext cx="2743200" cy="3566160"/>
          </a:xfrm>
          <a:prstGeom prst="roundRect">
            <a:avLst>
              <a:gd name="adj" fmla="val 4000"/>
            </a:avLst>
          </a:prstGeom>
          <a:solidFill>
            <a:srgbClr val="131C2E"/>
          </a:solidFill>
          <a:ln w="6350">
            <a:solidFill>
              <a:srgbClr val="C4B5FD"/>
            </a:solidFill>
            <a:prstDash val="solid"/>
          </a:ln>
        </p:spPr>
      </p:sp>
      <p:sp>
        <p:nvSpPr>
          <p:cNvPr id="17" name="Text 15"/>
          <p:cNvSpPr/>
          <p:nvPr/>
        </p:nvSpPr>
        <p:spPr>
          <a:xfrm>
            <a:off x="6217920" y="1298448"/>
            <a:ext cx="2743200" cy="457200"/>
          </a:xfrm>
          <a:prstGeom prst="rect">
            <a:avLst/>
          </a:prstGeom>
          <a:noFill/>
          <a:ln/>
        </p:spPr>
        <p:txBody>
          <a:bodyPr wrap="square" lIns="0" tIns="0" rIns="0" bIns="0" rtlCol="0" anchor="ctr"/>
          <a:lstStyle/>
          <a:p>
            <a:pPr algn="ctr" indent="0" marL="0">
              <a:buNone/>
            </a:pPr>
            <a:r>
              <a:rPr lang="en-US" sz="2400" dirty="0">
                <a:solidFill>
                  <a:srgbClr val="F1F5F9"/>
                </a:solidFill>
                <a:latin typeface="Calibri" pitchFamily="34" charset="0"/>
                <a:ea typeface="Calibri" pitchFamily="34" charset="-122"/>
                <a:cs typeface="Calibri" pitchFamily="34" charset="-120"/>
              </a:rPr>
              <a:t>⚙️</a:t>
            </a:r>
            <a:endParaRPr lang="en-US" sz="2400" dirty="0"/>
          </a:p>
        </p:txBody>
      </p:sp>
      <p:sp>
        <p:nvSpPr>
          <p:cNvPr id="18" name="Text 16"/>
          <p:cNvSpPr/>
          <p:nvPr/>
        </p:nvSpPr>
        <p:spPr>
          <a:xfrm>
            <a:off x="6217920" y="1737360"/>
            <a:ext cx="2743200" cy="274320"/>
          </a:xfrm>
          <a:prstGeom prst="rect">
            <a:avLst/>
          </a:prstGeom>
          <a:noFill/>
          <a:ln/>
        </p:spPr>
        <p:txBody>
          <a:bodyPr wrap="square" lIns="0" tIns="0" rIns="0" bIns="0" rtlCol="0" anchor="ctr"/>
          <a:lstStyle/>
          <a:p>
            <a:pPr algn="ctr" indent="0" marL="0">
              <a:buNone/>
            </a:pPr>
            <a:r>
              <a:rPr lang="en-US" sz="1400" b="1" dirty="0">
                <a:solidFill>
                  <a:srgbClr val="C4B5FD"/>
                </a:solidFill>
                <a:latin typeface="Calibri" pitchFamily="34" charset="0"/>
                <a:ea typeface="Calibri" pitchFamily="34" charset="-122"/>
                <a:cs typeface="Calibri" pitchFamily="34" charset="-120"/>
              </a:rPr>
              <a:t>script.js</a:t>
            </a:r>
            <a:endParaRPr lang="en-US" sz="1400" dirty="0"/>
          </a:p>
        </p:txBody>
      </p:sp>
      <p:sp>
        <p:nvSpPr>
          <p:cNvPr id="19" name="Text 17"/>
          <p:cNvSpPr/>
          <p:nvPr/>
        </p:nvSpPr>
        <p:spPr>
          <a:xfrm>
            <a:off x="6217920" y="2011680"/>
            <a:ext cx="2743200" cy="219456"/>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1,388 lines</a:t>
            </a:r>
            <a:endParaRPr lang="en-US" sz="1000" dirty="0"/>
          </a:p>
        </p:txBody>
      </p:sp>
      <p:sp>
        <p:nvSpPr>
          <p:cNvPr id="20" name="Shape 18"/>
          <p:cNvSpPr/>
          <p:nvPr/>
        </p:nvSpPr>
        <p:spPr>
          <a:xfrm>
            <a:off x="6355080" y="2286000"/>
            <a:ext cx="2468880" cy="0"/>
          </a:xfrm>
          <a:prstGeom prst="line">
            <a:avLst/>
          </a:prstGeom>
          <a:noFill/>
          <a:ln w="6350">
            <a:solidFill>
              <a:srgbClr val="1E3A5F"/>
            </a:solidFill>
            <a:prstDash val="solid"/>
          </a:ln>
        </p:spPr>
      </p:sp>
      <p:sp>
        <p:nvSpPr>
          <p:cNvPr id="21" name="Text 19"/>
          <p:cNvSpPr/>
          <p:nvPr/>
        </p:nvSpPr>
        <p:spPr>
          <a:xfrm>
            <a:off x="6355080" y="2359152"/>
            <a:ext cx="2468880" cy="1371600"/>
          </a:xfrm>
          <a:prstGeom prst="rect">
            <a:avLst/>
          </a:prstGeom>
          <a:noFill/>
          <a:ln/>
        </p:spPr>
        <p:txBody>
          <a:bodyPr wrap="square" lIns="0" tIns="0" rIns="0" bIns="0" rtlCol="0" anchor="t"/>
          <a:lstStyle/>
          <a:p>
            <a:pPr algn="l" indent="0" marL="0">
              <a:buNone/>
            </a:pPr>
            <a:r>
              <a:rPr lang="en-US" sz="950" dirty="0">
                <a:solidFill>
                  <a:srgbClr val="94A3B8"/>
                </a:solidFill>
                <a:latin typeface="Calibri" pitchFamily="34" charset="0"/>
                <a:ea typeface="Calibri" pitchFamily="34" charset="-122"/>
                <a:cs typeface="Calibri" pitchFamily="34" charset="-120"/>
              </a:rPr>
              <a:t>All 15 required skills + 4 bonus. localStorage, Canvas, Drag &amp; Drop, Fetch API, DOM manipulation.</a:t>
            </a:r>
            <a:endParaRPr lang="en-US" sz="950" dirty="0"/>
          </a:p>
        </p:txBody>
      </p:sp>
      <p:sp>
        <p:nvSpPr>
          <p:cNvPr id="22" name="Text 20"/>
          <p:cNvSpPr/>
          <p:nvPr/>
        </p:nvSpPr>
        <p:spPr>
          <a:xfrm>
            <a:off x="457200" y="4773168"/>
            <a:ext cx="8229600" cy="256032"/>
          </a:xfrm>
          <a:prstGeom prst="rect">
            <a:avLst/>
          </a:prstGeom>
          <a:noFill/>
          <a:ln/>
        </p:spPr>
        <p:txBody>
          <a:bodyPr wrap="square" lIns="0" tIns="0" rIns="0" bIns="0" rtlCol="0" anchor="ctr"/>
          <a:lstStyle/>
          <a:p>
            <a:pPr algn="ctr" indent="0" marL="0">
              <a:buNone/>
            </a:pPr>
            <a:r>
              <a:rPr lang="en-US" sz="1000" i="1" dirty="0">
                <a:solidFill>
                  <a:srgbClr val="6EE7B7"/>
                </a:solidFill>
                <a:latin typeface="Calibri" pitchFamily="34" charset="0"/>
                <a:ea typeface="Calibri" pitchFamily="34" charset="-122"/>
                <a:cs typeface="Calibri" pitchFamily="34" charset="-120"/>
              </a:rPr>
              <a:t>No frameworks — plain HTML, CSS, and JavaScript only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p:bgPr>
    </p:bg>
    <p:spTree>
      <p:nvGrpSpPr>
        <p:cNvPr id="1" name=""/>
        <p:cNvGrpSpPr/>
        <p:nvPr/>
      </p:nvGrpSpPr>
      <p:grpSpPr>
        <a:xfrm>
          <a:off x="0" y="0"/>
          <a:ext cx="0" cy="0"/>
          <a:chOff x="0" y="0"/>
          <a:chExt cx="0" cy="0"/>
        </a:xfrm>
      </p:grpSpPr>
      <p:sp>
        <p:nvSpPr>
          <p:cNvPr id="2" name="Text 0"/>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600" b="1" dirty="0">
                <a:solidFill>
                  <a:srgbClr val="F1F5F9"/>
                </a:solidFill>
                <a:latin typeface="Calibri" pitchFamily="34" charset="0"/>
                <a:ea typeface="Calibri" pitchFamily="34" charset="-122"/>
                <a:cs typeface="Calibri" pitchFamily="34" charset="-120"/>
              </a:rPr>
              <a:t>Skills in code — Canvas &amp; DOM Manipulation</a:t>
            </a:r>
            <a:endParaRPr lang="en-US" sz="2600" dirty="0"/>
          </a:p>
        </p:txBody>
      </p:sp>
      <p:sp>
        <p:nvSpPr>
          <p:cNvPr id="3" name="Shape 1"/>
          <p:cNvSpPr/>
          <p:nvPr/>
        </p:nvSpPr>
        <p:spPr>
          <a:xfrm>
            <a:off x="365760" y="1188720"/>
            <a:ext cx="5029200" cy="1828800"/>
          </a:xfrm>
          <a:prstGeom prst="roundRect">
            <a:avLst>
              <a:gd name="adj" fmla="val 5000"/>
            </a:avLst>
          </a:prstGeom>
          <a:solidFill>
            <a:srgbClr val="131C2E"/>
          </a:solidFill>
          <a:ln w="6350">
            <a:solidFill>
              <a:srgbClr val="C4B5FD"/>
            </a:solidFill>
            <a:prstDash val="solid"/>
          </a:ln>
        </p:spPr>
      </p:sp>
      <p:sp>
        <p:nvSpPr>
          <p:cNvPr id="4" name="Shape 2"/>
          <p:cNvSpPr/>
          <p:nvPr/>
        </p:nvSpPr>
        <p:spPr>
          <a:xfrm>
            <a:off x="457200" y="1234440"/>
            <a:ext cx="475488" cy="237744"/>
          </a:xfrm>
          <a:prstGeom prst="roundRect">
            <a:avLst>
              <a:gd name="adj" fmla="val 38462"/>
            </a:avLst>
          </a:prstGeom>
          <a:solidFill>
            <a:srgbClr val="7C3AED"/>
          </a:solidFill>
          <a:ln w="6350">
            <a:solidFill>
              <a:srgbClr val="7C3AED"/>
            </a:solidFill>
            <a:prstDash val="solid"/>
          </a:ln>
        </p:spPr>
      </p:sp>
      <p:sp>
        <p:nvSpPr>
          <p:cNvPr id="5" name="Text 3"/>
          <p:cNvSpPr/>
          <p:nvPr/>
        </p:nvSpPr>
        <p:spPr>
          <a:xfrm>
            <a:off x="457200" y="1234440"/>
            <a:ext cx="475488" cy="237744"/>
          </a:xfrm>
          <a:prstGeom prst="rect">
            <a:avLst/>
          </a:prstGeom>
          <a:noFill/>
          <a:ln/>
        </p:spPr>
        <p:txBody>
          <a:bodyPr wrap="square" lIns="0" tIns="0" rIns="0" bIns="0" rtlCol="0" anchor="ctr"/>
          <a:lstStyle/>
          <a:p>
            <a:pPr algn="ctr" indent="0" marL="0">
              <a:buNone/>
            </a:pPr>
            <a:r>
              <a:rPr lang="en-US" sz="900" b="1" dirty="0">
                <a:solidFill>
                  <a:srgbClr val="F1F5F9"/>
                </a:solidFill>
                <a:latin typeface="Calibri" pitchFamily="34" charset="0"/>
                <a:ea typeface="Calibri" pitchFamily="34" charset="-122"/>
                <a:cs typeface="Calibri" pitchFamily="34" charset="-120"/>
              </a:rPr>
              <a:t>R02</a:t>
            </a:r>
            <a:endParaRPr lang="en-US" sz="900" dirty="0"/>
          </a:p>
        </p:txBody>
      </p:sp>
      <p:sp>
        <p:nvSpPr>
          <p:cNvPr id="6" name="Text 4"/>
          <p:cNvSpPr/>
          <p:nvPr/>
        </p:nvSpPr>
        <p:spPr>
          <a:xfrm>
            <a:off x="987552" y="1234440"/>
            <a:ext cx="4297680" cy="237744"/>
          </a:xfrm>
          <a:prstGeom prst="rect">
            <a:avLst/>
          </a:prstGeom>
          <a:noFill/>
          <a:ln/>
        </p:spPr>
        <p:txBody>
          <a:bodyPr wrap="square" lIns="0" tIns="0" rIns="0" bIns="0" rtlCol="0" anchor="ctr"/>
          <a:lstStyle/>
          <a:p>
            <a:pPr algn="l" indent="0" marL="0">
              <a:buNone/>
            </a:pPr>
            <a:r>
              <a:rPr lang="en-US" sz="1200" b="1" dirty="0">
                <a:solidFill>
                  <a:srgbClr val="C4B5FD"/>
                </a:solidFill>
                <a:latin typeface="Calibri" pitchFamily="34" charset="0"/>
                <a:ea typeface="Calibri" pitchFamily="34" charset="-122"/>
                <a:cs typeface="Calibri" pitchFamily="34" charset="-120"/>
              </a:rPr>
              <a:t>Canvas API — Wellness Ring</a:t>
            </a:r>
            <a:endParaRPr lang="en-US" sz="1200" dirty="0"/>
          </a:p>
        </p:txBody>
      </p:sp>
      <p:sp>
        <p:nvSpPr>
          <p:cNvPr id="7" name="Text 5"/>
          <p:cNvSpPr/>
          <p:nvPr/>
        </p:nvSpPr>
        <p:spPr>
          <a:xfrm>
            <a:off x="475488" y="1536192"/>
            <a:ext cx="4754880" cy="201168"/>
          </a:xfrm>
          <a:prstGeom prst="rect">
            <a:avLst/>
          </a:prstGeom>
          <a:noFill/>
          <a:ln/>
        </p:spPr>
        <p:txBody>
          <a:bodyPr wrap="square" lIns="0" tIns="0" rIns="0" bIns="0" rtlCol="0" anchor="ctr"/>
          <a:lstStyle/>
          <a:p>
            <a:pPr algn="l" indent="0" marL="0">
              <a:buNone/>
            </a:pPr>
            <a:r>
              <a:rPr lang="en-US" sz="1000" dirty="0">
                <a:solidFill>
                  <a:srgbClr val="FCD34D"/>
                </a:solidFill>
                <a:latin typeface="Calibri" pitchFamily="34" charset="0"/>
                <a:ea typeface="Calibri" pitchFamily="34" charset="-122"/>
                <a:cs typeface="Calibri" pitchFamily="34" charset="-120"/>
              </a:rPr>
              <a:t>const ctx = canvas.getContext('2d')</a:t>
            </a:r>
            <a:endParaRPr lang="en-US" sz="1000" dirty="0"/>
          </a:p>
        </p:txBody>
      </p:sp>
      <p:sp>
        <p:nvSpPr>
          <p:cNvPr id="8" name="Text 6"/>
          <p:cNvSpPr/>
          <p:nvPr/>
        </p:nvSpPr>
        <p:spPr>
          <a:xfrm>
            <a:off x="475488" y="1737360"/>
            <a:ext cx="4754880" cy="201168"/>
          </a:xfrm>
          <a:prstGeom prst="rect">
            <a:avLst/>
          </a:prstGeom>
          <a:noFill/>
          <a:ln/>
        </p:spPr>
        <p:txBody>
          <a:bodyPr wrap="square" lIns="0" tIns="0" rIns="0" bIns="0" rtlCol="0" anchor="ctr"/>
          <a:lstStyle/>
          <a:p>
            <a:pPr algn="l" indent="0" marL="0">
              <a:buNone/>
            </a:pPr>
            <a:r>
              <a:rPr lang="en-US" sz="1000" dirty="0">
                <a:solidFill>
                  <a:srgbClr val="FCD34D"/>
                </a:solidFill>
                <a:latin typeface="Calibri" pitchFamily="34" charset="0"/>
                <a:ea typeface="Calibri" pitchFamily="34" charset="-122"/>
                <a:cs typeface="Calibri" pitchFamily="34" charset="-120"/>
              </a:rPr>
              <a:t>ctx.arc(cx, cy, radius, start, end)</a:t>
            </a:r>
            <a:endParaRPr lang="en-US" sz="1000" dirty="0"/>
          </a:p>
        </p:txBody>
      </p:sp>
      <p:sp>
        <p:nvSpPr>
          <p:cNvPr id="9" name="Text 7"/>
          <p:cNvSpPr/>
          <p:nvPr/>
        </p:nvSpPr>
        <p:spPr>
          <a:xfrm>
            <a:off x="475488" y="2011680"/>
            <a:ext cx="4754880" cy="201168"/>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Score 0–100 maps to arc angle: end = start + (2π × score/100)</a:t>
            </a:r>
            <a:endParaRPr lang="en-US" sz="950" dirty="0"/>
          </a:p>
        </p:txBody>
      </p:sp>
      <p:sp>
        <p:nvSpPr>
          <p:cNvPr id="10" name="Text 8"/>
          <p:cNvSpPr/>
          <p:nvPr/>
        </p:nvSpPr>
        <p:spPr>
          <a:xfrm>
            <a:off x="475488" y="2212848"/>
            <a:ext cx="4754880" cy="201168"/>
          </a:xfrm>
          <a:prstGeom prst="rect">
            <a:avLst/>
          </a:prstGeom>
          <a:noFill/>
          <a:ln/>
        </p:spPr>
        <p:txBody>
          <a:bodyPr wrap="square" lIns="0" tIns="0" rIns="0" bIns="0" rtlCol="0" anchor="ctr"/>
          <a:lstStyle/>
          <a:p>
            <a:pPr algn="l" indent="0" marL="0">
              <a:buNone/>
            </a:pPr>
            <a:r>
              <a:rPr lang="en-US" sz="900" i="1" dirty="0">
                <a:solidFill>
                  <a:srgbClr val="94A3B8"/>
                </a:solidFill>
                <a:latin typeface="Calibri" pitchFamily="34" charset="0"/>
                <a:ea typeface="Calibri" pitchFamily="34" charset="-122"/>
                <a:cs typeface="Calibri" pitchFamily="34" charset="-120"/>
              </a:rPr>
              <a:t>Also used for: mood line chart, device pie chart</a:t>
            </a:r>
            <a:endParaRPr lang="en-US" sz="900" dirty="0"/>
          </a:p>
        </p:txBody>
      </p:sp>
      <p:sp>
        <p:nvSpPr>
          <p:cNvPr id="11" name="Text 9"/>
          <p:cNvSpPr/>
          <p:nvPr/>
        </p:nvSpPr>
        <p:spPr>
          <a:xfrm>
            <a:off x="475488" y="2423160"/>
            <a:ext cx="4754880" cy="201168"/>
          </a:xfrm>
          <a:prstGeom prst="rect">
            <a:avLst/>
          </a:prstGeom>
          <a:noFill/>
          <a:ln/>
        </p:spPr>
        <p:txBody>
          <a:bodyPr wrap="square" lIns="0" tIns="0" rIns="0" bIns="0" rtlCol="0" anchor="ctr"/>
          <a:lstStyle/>
          <a:p>
            <a:pPr algn="l" indent="0" marL="0">
              <a:buNone/>
            </a:pPr>
            <a:r>
              <a:rPr lang="en-US" sz="900" dirty="0">
                <a:solidFill>
                  <a:srgbClr val="7C3AED"/>
                </a:solidFill>
                <a:latin typeface="Calibri" pitchFamily="34" charset="0"/>
                <a:ea typeface="Calibri" pitchFamily="34" charset="-122"/>
                <a:cs typeface="Calibri" pitchFamily="34" charset="-120"/>
              </a:rPr>
              <a:t>script.js line 215</a:t>
            </a:r>
            <a:endParaRPr lang="en-US" sz="900" dirty="0"/>
          </a:p>
        </p:txBody>
      </p:sp>
      <p:sp>
        <p:nvSpPr>
          <p:cNvPr id="12" name="Shape 10"/>
          <p:cNvSpPr/>
          <p:nvPr/>
        </p:nvSpPr>
        <p:spPr>
          <a:xfrm>
            <a:off x="365760" y="3127248"/>
            <a:ext cx="5029200" cy="1719072"/>
          </a:xfrm>
          <a:prstGeom prst="roundRect">
            <a:avLst>
              <a:gd name="adj" fmla="val 5319"/>
            </a:avLst>
          </a:prstGeom>
          <a:solidFill>
            <a:srgbClr val="131C2E"/>
          </a:solidFill>
          <a:ln w="6350">
            <a:solidFill>
              <a:srgbClr val="6EE7B7"/>
            </a:solidFill>
            <a:prstDash val="solid"/>
          </a:ln>
        </p:spPr>
      </p:sp>
      <p:sp>
        <p:nvSpPr>
          <p:cNvPr id="13" name="Shape 11"/>
          <p:cNvSpPr/>
          <p:nvPr/>
        </p:nvSpPr>
        <p:spPr>
          <a:xfrm>
            <a:off x="457200" y="3172968"/>
            <a:ext cx="475488" cy="237744"/>
          </a:xfrm>
          <a:prstGeom prst="roundRect">
            <a:avLst>
              <a:gd name="adj" fmla="val 38462"/>
            </a:avLst>
          </a:prstGeom>
          <a:solidFill>
            <a:srgbClr val="059669"/>
          </a:solidFill>
          <a:ln w="6350">
            <a:solidFill>
              <a:srgbClr val="059669"/>
            </a:solidFill>
            <a:prstDash val="solid"/>
          </a:ln>
        </p:spPr>
      </p:sp>
      <p:sp>
        <p:nvSpPr>
          <p:cNvPr id="14" name="Text 12"/>
          <p:cNvSpPr/>
          <p:nvPr/>
        </p:nvSpPr>
        <p:spPr>
          <a:xfrm>
            <a:off x="457200" y="3172968"/>
            <a:ext cx="475488" cy="237744"/>
          </a:xfrm>
          <a:prstGeom prst="rect">
            <a:avLst/>
          </a:prstGeom>
          <a:noFill/>
          <a:ln/>
        </p:spPr>
        <p:txBody>
          <a:bodyPr wrap="square" lIns="0" tIns="0" rIns="0" bIns="0" rtlCol="0" anchor="ctr"/>
          <a:lstStyle/>
          <a:p>
            <a:pPr algn="ctr" indent="0" marL="0">
              <a:buNone/>
            </a:pPr>
            <a:r>
              <a:rPr lang="en-US" sz="900" b="1" dirty="0">
                <a:solidFill>
                  <a:srgbClr val="F1F5F9"/>
                </a:solidFill>
                <a:latin typeface="Calibri" pitchFamily="34" charset="0"/>
                <a:ea typeface="Calibri" pitchFamily="34" charset="-122"/>
                <a:cs typeface="Calibri" pitchFamily="34" charset="-120"/>
              </a:rPr>
              <a:t>R04</a:t>
            </a:r>
            <a:endParaRPr lang="en-US" sz="900" dirty="0"/>
          </a:p>
        </p:txBody>
      </p:sp>
      <p:sp>
        <p:nvSpPr>
          <p:cNvPr id="15" name="Text 13"/>
          <p:cNvSpPr/>
          <p:nvPr/>
        </p:nvSpPr>
        <p:spPr>
          <a:xfrm>
            <a:off x="987552" y="3172968"/>
            <a:ext cx="4297680" cy="237744"/>
          </a:xfrm>
          <a:prstGeom prst="rect">
            <a:avLst/>
          </a:prstGeom>
          <a:noFill/>
          <a:ln/>
        </p:spPr>
        <p:txBody>
          <a:bodyPr wrap="square" lIns="0" tIns="0" rIns="0" bIns="0" rtlCol="0" anchor="ctr"/>
          <a:lstStyle/>
          <a:p>
            <a:pPr algn="l" indent="0" marL="0">
              <a:buNone/>
            </a:pPr>
            <a:r>
              <a:rPr lang="en-US" sz="1200" b="1" dirty="0">
                <a:solidFill>
                  <a:srgbClr val="6EE7B7"/>
                </a:solidFill>
                <a:latin typeface="Calibri" pitchFamily="34" charset="0"/>
                <a:ea typeface="Calibri" pitchFamily="34" charset="-122"/>
                <a:cs typeface="Calibri" pitchFamily="34" charset="-120"/>
              </a:rPr>
              <a:t>DOM Manipulation — Dynamic Rendering</a:t>
            </a:r>
            <a:endParaRPr lang="en-US" sz="1200" dirty="0"/>
          </a:p>
        </p:txBody>
      </p:sp>
      <p:sp>
        <p:nvSpPr>
          <p:cNvPr id="16" name="Text 14"/>
          <p:cNvSpPr/>
          <p:nvPr/>
        </p:nvSpPr>
        <p:spPr>
          <a:xfrm>
            <a:off x="475488" y="3474720"/>
            <a:ext cx="4754880" cy="201168"/>
          </a:xfrm>
          <a:prstGeom prst="rect">
            <a:avLst/>
          </a:prstGeom>
          <a:noFill/>
          <a:ln/>
        </p:spPr>
        <p:txBody>
          <a:bodyPr wrap="square" lIns="0" tIns="0" rIns="0" bIns="0" rtlCol="0" anchor="ctr"/>
          <a:lstStyle/>
          <a:p>
            <a:pPr algn="l" indent="0" marL="0">
              <a:buNone/>
            </a:pPr>
            <a:r>
              <a:rPr lang="en-US" sz="1000" dirty="0">
                <a:solidFill>
                  <a:srgbClr val="FCD34D"/>
                </a:solidFill>
                <a:latin typeface="Calibri" pitchFamily="34" charset="0"/>
                <a:ea typeface="Calibri" pitchFamily="34" charset="-122"/>
                <a:cs typeface="Calibri" pitchFamily="34" charset="-120"/>
              </a:rPr>
              <a:t>const li = document.createElement('li')</a:t>
            </a:r>
            <a:endParaRPr lang="en-US" sz="1000" dirty="0"/>
          </a:p>
        </p:txBody>
      </p:sp>
      <p:sp>
        <p:nvSpPr>
          <p:cNvPr id="17" name="Text 15"/>
          <p:cNvSpPr/>
          <p:nvPr/>
        </p:nvSpPr>
        <p:spPr>
          <a:xfrm>
            <a:off x="475488" y="3675888"/>
            <a:ext cx="4754880" cy="201168"/>
          </a:xfrm>
          <a:prstGeom prst="rect">
            <a:avLst/>
          </a:prstGeom>
          <a:noFill/>
          <a:ln/>
        </p:spPr>
        <p:txBody>
          <a:bodyPr wrap="square" lIns="0" tIns="0" rIns="0" bIns="0" rtlCol="0" anchor="ctr"/>
          <a:lstStyle/>
          <a:p>
            <a:pPr algn="l" indent="0" marL="0">
              <a:buNone/>
            </a:pPr>
            <a:r>
              <a:rPr lang="en-US" sz="1000" dirty="0">
                <a:solidFill>
                  <a:srgbClr val="FCD34D"/>
                </a:solidFill>
                <a:latin typeface="Calibri" pitchFamily="34" charset="0"/>
                <a:ea typeface="Calibri" pitchFamily="34" charset="-122"/>
                <a:cs typeface="Calibri" pitchFamily="34" charset="-120"/>
              </a:rPr>
              <a:t>li.className = 'goal-item'</a:t>
            </a:r>
            <a:endParaRPr lang="en-US" sz="1000" dirty="0"/>
          </a:p>
        </p:txBody>
      </p:sp>
      <p:sp>
        <p:nvSpPr>
          <p:cNvPr id="18" name="Text 16"/>
          <p:cNvSpPr/>
          <p:nvPr/>
        </p:nvSpPr>
        <p:spPr>
          <a:xfrm>
            <a:off x="475488" y="3877056"/>
            <a:ext cx="4754880" cy="201168"/>
          </a:xfrm>
          <a:prstGeom prst="rect">
            <a:avLst/>
          </a:prstGeom>
          <a:noFill/>
          <a:ln/>
        </p:spPr>
        <p:txBody>
          <a:bodyPr wrap="square" lIns="0" tIns="0" rIns="0" bIns="0" rtlCol="0" anchor="ctr"/>
          <a:lstStyle/>
          <a:p>
            <a:pPr algn="l" indent="0" marL="0">
              <a:buNone/>
            </a:pPr>
            <a:r>
              <a:rPr lang="en-US" sz="1000" dirty="0">
                <a:solidFill>
                  <a:srgbClr val="FCD34D"/>
                </a:solidFill>
                <a:latin typeface="Calibri" pitchFamily="34" charset="0"/>
                <a:ea typeface="Calibri" pitchFamily="34" charset="-122"/>
                <a:cs typeface="Calibri" pitchFamily="34" charset="-120"/>
              </a:rPr>
              <a:t>container.appendChild(li)</a:t>
            </a:r>
            <a:endParaRPr lang="en-US" sz="1000" dirty="0"/>
          </a:p>
        </p:txBody>
      </p:sp>
      <p:sp>
        <p:nvSpPr>
          <p:cNvPr id="19" name="Text 17"/>
          <p:cNvSpPr/>
          <p:nvPr/>
        </p:nvSpPr>
        <p:spPr>
          <a:xfrm>
            <a:off x="475488" y="4169664"/>
            <a:ext cx="4754880" cy="201168"/>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Used in: renderGoals(), switchTab(), appendMessage()</a:t>
            </a:r>
            <a:endParaRPr lang="en-US" sz="900" dirty="0"/>
          </a:p>
        </p:txBody>
      </p:sp>
      <p:sp>
        <p:nvSpPr>
          <p:cNvPr id="20" name="Text 18"/>
          <p:cNvSpPr/>
          <p:nvPr/>
        </p:nvSpPr>
        <p:spPr>
          <a:xfrm>
            <a:off x="475488" y="4370832"/>
            <a:ext cx="4754880" cy="201168"/>
          </a:xfrm>
          <a:prstGeom prst="rect">
            <a:avLst/>
          </a:prstGeom>
          <a:noFill/>
          <a:ln/>
        </p:spPr>
        <p:txBody>
          <a:bodyPr wrap="square" lIns="0" tIns="0" rIns="0" bIns="0" rtlCol="0" anchor="ctr"/>
          <a:lstStyle/>
          <a:p>
            <a:pPr algn="l" indent="0" marL="0">
              <a:buNone/>
            </a:pPr>
            <a:r>
              <a:rPr lang="en-US" sz="900" dirty="0">
                <a:solidFill>
                  <a:srgbClr val="059669"/>
                </a:solidFill>
                <a:latin typeface="Calibri" pitchFamily="34" charset="0"/>
                <a:ea typeface="Calibri" pitchFamily="34" charset="-122"/>
                <a:cs typeface="Calibri" pitchFamily="34" charset="-120"/>
              </a:rPr>
              <a:t>script.js line 385</a:t>
            </a:r>
            <a:endParaRPr lang="en-US" sz="900" dirty="0"/>
          </a:p>
        </p:txBody>
      </p:sp>
      <p:sp>
        <p:nvSpPr>
          <p:cNvPr id="21" name="Shape 19"/>
          <p:cNvSpPr/>
          <p:nvPr/>
        </p:nvSpPr>
        <p:spPr>
          <a:xfrm>
            <a:off x="5577840" y="1188720"/>
            <a:ext cx="3291840" cy="3639312"/>
          </a:xfrm>
          <a:prstGeom prst="roundRect">
            <a:avLst>
              <a:gd name="adj" fmla="val 3333"/>
            </a:avLst>
          </a:prstGeom>
          <a:solidFill>
            <a:srgbClr val="131C2E"/>
          </a:solidFill>
          <a:ln w="6350">
            <a:solidFill>
              <a:srgbClr val="1E3A5F"/>
            </a:solidFill>
            <a:prstDash val="solid"/>
          </a:ln>
        </p:spPr>
      </p:sp>
      <p:sp>
        <p:nvSpPr>
          <p:cNvPr id="22" name="Text 20"/>
          <p:cNvSpPr/>
          <p:nvPr/>
        </p:nvSpPr>
        <p:spPr>
          <a:xfrm>
            <a:off x="5577840" y="1188720"/>
            <a:ext cx="3291840" cy="329184"/>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What this produces</a:t>
            </a:r>
            <a:endParaRPr lang="en-US" sz="1000" dirty="0"/>
          </a:p>
        </p:txBody>
      </p:sp>
      <p:sp>
        <p:nvSpPr>
          <p:cNvPr id="23" name="Shape 21"/>
          <p:cNvSpPr/>
          <p:nvPr/>
        </p:nvSpPr>
        <p:spPr>
          <a:xfrm>
            <a:off x="6583680" y="1600200"/>
            <a:ext cx="1280160" cy="1280160"/>
          </a:xfrm>
          <a:prstGeom prst="ellipse">
            <a:avLst/>
          </a:prstGeom>
          <a:solidFill>
            <a:srgbClr val="1E2A3A"/>
          </a:solidFill>
          <a:ln w="127000">
            <a:solidFill>
              <a:srgbClr val="1E3A5F"/>
            </a:solidFill>
            <a:prstDash val="solid"/>
          </a:ln>
        </p:spPr>
      </p:sp>
      <p:sp>
        <p:nvSpPr>
          <p:cNvPr id="24" name="Shape 22"/>
          <p:cNvSpPr/>
          <p:nvPr/>
        </p:nvSpPr>
        <p:spPr>
          <a:xfrm>
            <a:off x="6583680" y="1600200"/>
            <a:ext cx="1280160" cy="1280160"/>
          </a:xfrm>
          <a:prstGeom prst="ellipse">
            <a:avLst/>
          </a:prstGeom>
          <a:solidFill>
            <a:srgbClr val="1E2A3A">
              <a:alpha val="0"/>
            </a:srgbClr>
          </a:solidFill>
          <a:ln w="127000">
            <a:solidFill>
              <a:srgbClr val="C4B5FD"/>
            </a:solidFill>
            <a:prstDash val="solid"/>
          </a:ln>
        </p:spPr>
      </p:sp>
      <p:sp>
        <p:nvSpPr>
          <p:cNvPr id="25" name="Text 23"/>
          <p:cNvSpPr/>
          <p:nvPr/>
        </p:nvSpPr>
        <p:spPr>
          <a:xfrm>
            <a:off x="6583680" y="1920240"/>
            <a:ext cx="1280160" cy="457200"/>
          </a:xfrm>
          <a:prstGeom prst="rect">
            <a:avLst/>
          </a:prstGeom>
          <a:noFill/>
          <a:ln/>
        </p:spPr>
        <p:txBody>
          <a:bodyPr wrap="square" lIns="0" tIns="0" rIns="0" bIns="0" rtlCol="0" anchor="ctr"/>
          <a:lstStyle/>
          <a:p>
            <a:pPr algn="ctr" indent="0" marL="0">
              <a:buNone/>
            </a:pPr>
            <a:r>
              <a:rPr lang="en-US" sz="2400" b="1" dirty="0">
                <a:solidFill>
                  <a:srgbClr val="C4B5FD"/>
                </a:solidFill>
                <a:latin typeface="Calibri" pitchFamily="34" charset="0"/>
                <a:ea typeface="Calibri" pitchFamily="34" charset="-122"/>
                <a:cs typeface="Calibri" pitchFamily="34" charset="-120"/>
              </a:rPr>
              <a:t>78</a:t>
            </a:r>
            <a:endParaRPr lang="en-US" sz="2400" dirty="0"/>
          </a:p>
        </p:txBody>
      </p:sp>
      <p:sp>
        <p:nvSpPr>
          <p:cNvPr id="26" name="Text 24"/>
          <p:cNvSpPr/>
          <p:nvPr/>
        </p:nvSpPr>
        <p:spPr>
          <a:xfrm>
            <a:off x="5943600" y="2999232"/>
            <a:ext cx="2743200" cy="219456"/>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Wellness Ring</a:t>
            </a:r>
            <a:endParaRPr lang="en-US" sz="900" dirty="0"/>
          </a:p>
        </p:txBody>
      </p:sp>
      <p:sp>
        <p:nvSpPr>
          <p:cNvPr id="27" name="Text 25"/>
          <p:cNvSpPr/>
          <p:nvPr/>
        </p:nvSpPr>
        <p:spPr>
          <a:xfrm>
            <a:off x="5760720" y="3337560"/>
            <a:ext cx="29260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Goal cards built from</a:t>
            </a:r>
            <a:endParaRPr lang="en-US" sz="900" dirty="0"/>
          </a:p>
        </p:txBody>
      </p:sp>
      <p:sp>
        <p:nvSpPr>
          <p:cNvPr id="28" name="Text 26"/>
          <p:cNvSpPr/>
          <p:nvPr/>
        </p:nvSpPr>
        <p:spPr>
          <a:xfrm>
            <a:off x="5760720" y="3520440"/>
            <a:ext cx="29260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JS objects → DOM elements</a:t>
            </a:r>
            <a:endParaRPr lang="en-US" sz="900" dirty="0"/>
          </a:p>
        </p:txBody>
      </p:sp>
      <p:sp>
        <p:nvSpPr>
          <p:cNvPr id="29" name="Shape 27"/>
          <p:cNvSpPr/>
          <p:nvPr/>
        </p:nvSpPr>
        <p:spPr>
          <a:xfrm>
            <a:off x="5760720" y="3767328"/>
            <a:ext cx="2926080" cy="347472"/>
          </a:xfrm>
          <a:prstGeom prst="roundRect">
            <a:avLst>
              <a:gd name="adj" fmla="val 21053"/>
            </a:avLst>
          </a:prstGeom>
          <a:solidFill>
            <a:srgbClr val="7C3AED"/>
          </a:solidFill>
          <a:ln w="6350">
            <a:solidFill>
              <a:srgbClr val="C4B5FD"/>
            </a:solidFill>
            <a:prstDash val="solid"/>
          </a:ln>
        </p:spPr>
      </p:sp>
      <p:sp>
        <p:nvSpPr>
          <p:cNvPr id="30" name="Text 28"/>
          <p:cNvSpPr/>
          <p:nvPr/>
        </p:nvSpPr>
        <p:spPr>
          <a:xfrm>
            <a:off x="5760720" y="3767328"/>
            <a:ext cx="2926080" cy="347472"/>
          </a:xfrm>
          <a:prstGeom prst="rect">
            <a:avLst/>
          </a:prstGeom>
          <a:noFill/>
          <a:ln/>
        </p:spPr>
        <p:txBody>
          <a:bodyPr wrap="square" lIns="0" tIns="0" rIns="0" bIns="0" rtlCol="0" anchor="ctr"/>
          <a:lstStyle/>
          <a:p>
            <a:pPr algn="ctr" indent="0" marL="0">
              <a:buNone/>
            </a:pPr>
            <a:r>
              <a:rPr lang="en-US" sz="900" dirty="0">
                <a:solidFill>
                  <a:srgbClr val="F1F5F9"/>
                </a:solidFill>
                <a:latin typeface="Calibri" pitchFamily="34" charset="0"/>
                <a:ea typeface="Calibri" pitchFamily="34" charset="-122"/>
                <a:cs typeface="Calibri" pitchFamily="34" charset="-120"/>
              </a:rPr>
              <a:t>🏃 Run 5km — 65%</a:t>
            </a:r>
            <a:endParaRPr lang="en-US" sz="900" dirty="0"/>
          </a:p>
        </p:txBody>
      </p:sp>
      <p:sp>
        <p:nvSpPr>
          <p:cNvPr id="31" name="Shape 29"/>
          <p:cNvSpPr/>
          <p:nvPr/>
        </p:nvSpPr>
        <p:spPr>
          <a:xfrm>
            <a:off x="5760720" y="4224528"/>
            <a:ext cx="2926080" cy="347472"/>
          </a:xfrm>
          <a:prstGeom prst="roundRect">
            <a:avLst>
              <a:gd name="adj" fmla="val 21053"/>
            </a:avLst>
          </a:prstGeom>
          <a:solidFill>
            <a:srgbClr val="131C2E"/>
          </a:solidFill>
          <a:ln w="6350">
            <a:solidFill>
              <a:srgbClr val="1E3A5F"/>
            </a:solidFill>
            <a:prstDash val="solid"/>
          </a:ln>
        </p:spPr>
      </p:sp>
      <p:sp>
        <p:nvSpPr>
          <p:cNvPr id="32" name="Text 30"/>
          <p:cNvSpPr/>
          <p:nvPr/>
        </p:nvSpPr>
        <p:spPr>
          <a:xfrm>
            <a:off x="5760720" y="4224528"/>
            <a:ext cx="2926080" cy="34747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 Meditate daily — 80%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7315200" y="3657600"/>
            <a:ext cx="1828800" cy="1828800"/>
          </a:xfrm>
          <a:prstGeom prst="ellipse">
            <a:avLst/>
          </a:prstGeom>
          <a:solidFill>
            <a:srgbClr val="7C3AED">
              <a:alpha val="15000"/>
            </a:srgbClr>
          </a:solidFill>
          <a:ln w="12700">
            <a:solidFill>
              <a:srgbClr val="7C3AED"/>
            </a:solidFill>
            <a:prstDash val="solid"/>
          </a:ln>
        </p:spPr>
      </p:sp>
      <p:sp>
        <p:nvSpPr>
          <p:cNvPr id="3" name="Text 1"/>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600" b="1" dirty="0">
                <a:solidFill>
                  <a:srgbClr val="F1F5F9"/>
                </a:solidFill>
                <a:latin typeface="Calibri" pitchFamily="34" charset="0"/>
                <a:ea typeface="Calibri" pitchFamily="34" charset="-122"/>
                <a:cs typeface="Calibri" pitchFamily="34" charset="-120"/>
              </a:rPr>
              <a:t>Skills in code — Fetch API &amp; Local Storage</a:t>
            </a:r>
            <a:endParaRPr lang="en-US" sz="2600" dirty="0"/>
          </a:p>
        </p:txBody>
      </p:sp>
      <p:sp>
        <p:nvSpPr>
          <p:cNvPr id="4" name="Shape 2"/>
          <p:cNvSpPr/>
          <p:nvPr/>
        </p:nvSpPr>
        <p:spPr>
          <a:xfrm>
            <a:off x="365760" y="1188720"/>
            <a:ext cx="8412480" cy="1737360"/>
          </a:xfrm>
          <a:prstGeom prst="roundRect">
            <a:avLst>
              <a:gd name="adj" fmla="val 5263"/>
            </a:avLst>
          </a:prstGeom>
          <a:solidFill>
            <a:srgbClr val="131C2E"/>
          </a:solidFill>
          <a:ln w="6350">
            <a:solidFill>
              <a:srgbClr val="FCD34D"/>
            </a:solidFill>
            <a:prstDash val="solid"/>
          </a:ln>
        </p:spPr>
      </p:sp>
      <p:sp>
        <p:nvSpPr>
          <p:cNvPr id="5" name="Shape 3"/>
          <p:cNvSpPr/>
          <p:nvPr/>
        </p:nvSpPr>
        <p:spPr>
          <a:xfrm>
            <a:off x="457200" y="1243584"/>
            <a:ext cx="457200" cy="237744"/>
          </a:xfrm>
          <a:prstGeom prst="roundRect">
            <a:avLst>
              <a:gd name="adj" fmla="val 38462"/>
            </a:avLst>
          </a:prstGeom>
          <a:solidFill>
            <a:srgbClr val="D97706"/>
          </a:solidFill>
          <a:ln w="6350">
            <a:solidFill>
              <a:srgbClr val="D97706"/>
            </a:solidFill>
            <a:prstDash val="solid"/>
          </a:ln>
        </p:spPr>
      </p:sp>
      <p:sp>
        <p:nvSpPr>
          <p:cNvPr id="6" name="Text 4"/>
          <p:cNvSpPr/>
          <p:nvPr/>
        </p:nvSpPr>
        <p:spPr>
          <a:xfrm>
            <a:off x="457200" y="1243584"/>
            <a:ext cx="457200" cy="237744"/>
          </a:xfrm>
          <a:prstGeom prst="rect">
            <a:avLst/>
          </a:prstGeom>
          <a:noFill/>
          <a:ln/>
        </p:spPr>
        <p:txBody>
          <a:bodyPr wrap="square" lIns="0" tIns="0" rIns="0" bIns="0" rtlCol="0" anchor="ctr"/>
          <a:lstStyle/>
          <a:p>
            <a:pPr algn="ctr" indent="0" marL="0">
              <a:buNone/>
            </a:pPr>
            <a:r>
              <a:rPr lang="en-US" sz="900" b="1" dirty="0">
                <a:solidFill>
                  <a:srgbClr val="F1F5F9"/>
                </a:solidFill>
                <a:latin typeface="Calibri" pitchFamily="34" charset="0"/>
                <a:ea typeface="Calibri" pitchFamily="34" charset="-122"/>
                <a:cs typeface="Calibri" pitchFamily="34" charset="-120"/>
              </a:rPr>
              <a:t>B01</a:t>
            </a:r>
            <a:endParaRPr lang="en-US" sz="900" dirty="0"/>
          </a:p>
        </p:txBody>
      </p:sp>
      <p:sp>
        <p:nvSpPr>
          <p:cNvPr id="7" name="Text 5"/>
          <p:cNvSpPr/>
          <p:nvPr/>
        </p:nvSpPr>
        <p:spPr>
          <a:xfrm>
            <a:off x="969264" y="1243584"/>
            <a:ext cx="4572000" cy="237744"/>
          </a:xfrm>
          <a:prstGeom prst="rect">
            <a:avLst/>
          </a:prstGeom>
          <a:noFill/>
          <a:ln/>
        </p:spPr>
        <p:txBody>
          <a:bodyPr wrap="square" lIns="0" tIns="0" rIns="0" bIns="0" rtlCol="0" anchor="ctr"/>
          <a:lstStyle/>
          <a:p>
            <a:pPr algn="l" indent="0" marL="0">
              <a:buNone/>
            </a:pPr>
            <a:r>
              <a:rPr lang="en-US" sz="1200" b="1" dirty="0">
                <a:solidFill>
                  <a:srgbClr val="FCD34D"/>
                </a:solidFill>
                <a:latin typeface="Calibri" pitchFamily="34" charset="0"/>
                <a:ea typeface="Calibri" pitchFamily="34" charset="-122"/>
                <a:cs typeface="Calibri" pitchFamily="34" charset="-120"/>
              </a:rPr>
              <a:t>Fetch API — AI Counselor chat</a:t>
            </a:r>
            <a:endParaRPr lang="en-US" sz="1200" dirty="0"/>
          </a:p>
        </p:txBody>
      </p:sp>
      <p:sp>
        <p:nvSpPr>
          <p:cNvPr id="8" name="Text 6"/>
          <p:cNvSpPr/>
          <p:nvPr/>
        </p:nvSpPr>
        <p:spPr>
          <a:xfrm>
            <a:off x="7132320" y="1243584"/>
            <a:ext cx="1554480" cy="237744"/>
          </a:xfrm>
          <a:prstGeom prst="rect">
            <a:avLst/>
          </a:prstGeom>
          <a:noFill/>
          <a:ln/>
        </p:spPr>
        <p:txBody>
          <a:bodyPr wrap="square" lIns="0" tIns="0" rIns="0" bIns="0" rtlCol="0" anchor="ctr"/>
          <a:lstStyle/>
          <a:p>
            <a:pPr algn="r" indent="0" marL="0">
              <a:buNone/>
            </a:pPr>
            <a:r>
              <a:rPr lang="en-US" sz="900" i="1" dirty="0">
                <a:solidFill>
                  <a:srgbClr val="D97706"/>
                </a:solidFill>
                <a:latin typeface="Calibri" pitchFamily="34" charset="0"/>
                <a:ea typeface="Calibri" pitchFamily="34" charset="-122"/>
                <a:cs typeface="Calibri" pitchFamily="34" charset="-120"/>
              </a:rPr>
              <a:t>Bonus skill</a:t>
            </a:r>
            <a:endParaRPr lang="en-US" sz="900" dirty="0"/>
          </a:p>
        </p:txBody>
      </p:sp>
      <p:sp>
        <p:nvSpPr>
          <p:cNvPr id="9" name="Text 7"/>
          <p:cNvSpPr/>
          <p:nvPr/>
        </p:nvSpPr>
        <p:spPr>
          <a:xfrm>
            <a:off x="475488" y="1554480"/>
            <a:ext cx="8229600" cy="237744"/>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const response = await fetch('https://api.anthropic.com/v1/messages', {</a:t>
            </a:r>
            <a:endParaRPr lang="en-US" sz="900" dirty="0"/>
          </a:p>
        </p:txBody>
      </p:sp>
      <p:sp>
        <p:nvSpPr>
          <p:cNvPr id="10" name="Text 8"/>
          <p:cNvSpPr/>
          <p:nvPr/>
        </p:nvSpPr>
        <p:spPr>
          <a:xfrm>
            <a:off x="475488" y="1810512"/>
            <a:ext cx="8229600" cy="237744"/>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  method: 'POST',  body: JSON.stringify({ model: 'claude-sonnet-4-6', messages: chatHistory })</a:t>
            </a:r>
            <a:endParaRPr lang="en-US" sz="900" dirty="0"/>
          </a:p>
        </p:txBody>
      </p:sp>
      <p:sp>
        <p:nvSpPr>
          <p:cNvPr id="11" name="Text 9"/>
          <p:cNvSpPr/>
          <p:nvPr/>
        </p:nvSpPr>
        <p:spPr>
          <a:xfrm>
            <a:off x="475488" y="2066544"/>
            <a:ext cx="8229600" cy="237744"/>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a:t>
            </a:r>
            <a:endParaRPr lang="en-US" sz="900" dirty="0"/>
          </a:p>
        </p:txBody>
      </p:sp>
      <p:sp>
        <p:nvSpPr>
          <p:cNvPr id="12" name="Text 10"/>
          <p:cNvSpPr/>
          <p:nvPr/>
        </p:nvSpPr>
        <p:spPr>
          <a:xfrm>
            <a:off x="475488" y="2322576"/>
            <a:ext cx="8229600" cy="237744"/>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const data = await response.json();   // parse AI response</a:t>
            </a:r>
            <a:endParaRPr lang="en-US" sz="900" dirty="0"/>
          </a:p>
        </p:txBody>
      </p:sp>
      <p:sp>
        <p:nvSpPr>
          <p:cNvPr id="13" name="Text 11"/>
          <p:cNvSpPr/>
          <p:nvPr/>
        </p:nvSpPr>
        <p:spPr>
          <a:xfrm>
            <a:off x="475488" y="2615184"/>
            <a:ext cx="8229600" cy="201168"/>
          </a:xfrm>
          <a:prstGeom prst="rect">
            <a:avLst/>
          </a:prstGeom>
          <a:noFill/>
          <a:ln/>
        </p:spPr>
        <p:txBody>
          <a:bodyPr wrap="square" lIns="0" tIns="0" rIns="0" bIns="0" rtlCol="0" anchor="ctr"/>
          <a:lstStyle/>
          <a:p>
            <a:pPr algn="l" indent="0" marL="0">
              <a:buNone/>
            </a:pPr>
            <a:r>
              <a:rPr lang="en-US" sz="900" i="1" dirty="0">
                <a:solidFill>
                  <a:srgbClr val="94A3B8"/>
                </a:solidFill>
                <a:latin typeface="Calibri" pitchFamily="34" charset="0"/>
                <a:ea typeface="Calibri" pitchFamily="34" charset="-122"/>
                <a:cs typeface="Calibri" pitchFamily="34" charset="-120"/>
              </a:rPr>
              <a:t>Health context (sleep, steps, mood) injected into system prompt → truly personalised advice</a:t>
            </a:r>
            <a:endParaRPr lang="en-US" sz="900" dirty="0"/>
          </a:p>
        </p:txBody>
      </p:sp>
      <p:sp>
        <p:nvSpPr>
          <p:cNvPr id="14" name="Shape 12"/>
          <p:cNvSpPr/>
          <p:nvPr/>
        </p:nvSpPr>
        <p:spPr>
          <a:xfrm>
            <a:off x="365760" y="3035808"/>
            <a:ext cx="8412480" cy="1828800"/>
          </a:xfrm>
          <a:prstGeom prst="roundRect">
            <a:avLst>
              <a:gd name="adj" fmla="val 5000"/>
            </a:avLst>
          </a:prstGeom>
          <a:solidFill>
            <a:srgbClr val="131C2E"/>
          </a:solidFill>
          <a:ln w="6350">
            <a:solidFill>
              <a:srgbClr val="6EE7B7"/>
            </a:solidFill>
            <a:prstDash val="solid"/>
          </a:ln>
        </p:spPr>
      </p:sp>
      <p:sp>
        <p:nvSpPr>
          <p:cNvPr id="15" name="Shape 13"/>
          <p:cNvSpPr/>
          <p:nvPr/>
        </p:nvSpPr>
        <p:spPr>
          <a:xfrm>
            <a:off x="457200" y="3090672"/>
            <a:ext cx="457200" cy="237744"/>
          </a:xfrm>
          <a:prstGeom prst="roundRect">
            <a:avLst>
              <a:gd name="adj" fmla="val 38462"/>
            </a:avLst>
          </a:prstGeom>
          <a:solidFill>
            <a:srgbClr val="059669"/>
          </a:solidFill>
          <a:ln w="6350">
            <a:solidFill>
              <a:srgbClr val="059669"/>
            </a:solidFill>
            <a:prstDash val="solid"/>
          </a:ln>
        </p:spPr>
      </p:sp>
      <p:sp>
        <p:nvSpPr>
          <p:cNvPr id="16" name="Text 14"/>
          <p:cNvSpPr/>
          <p:nvPr/>
        </p:nvSpPr>
        <p:spPr>
          <a:xfrm>
            <a:off x="457200" y="3090672"/>
            <a:ext cx="457200" cy="237744"/>
          </a:xfrm>
          <a:prstGeom prst="rect">
            <a:avLst/>
          </a:prstGeom>
          <a:noFill/>
          <a:ln/>
        </p:spPr>
        <p:txBody>
          <a:bodyPr wrap="square" lIns="0" tIns="0" rIns="0" bIns="0" rtlCol="0" anchor="ctr"/>
          <a:lstStyle/>
          <a:p>
            <a:pPr algn="ctr" indent="0" marL="0">
              <a:buNone/>
            </a:pPr>
            <a:r>
              <a:rPr lang="en-US" sz="900" b="1" dirty="0">
                <a:solidFill>
                  <a:srgbClr val="F1F5F9"/>
                </a:solidFill>
                <a:latin typeface="Calibri" pitchFamily="34" charset="0"/>
                <a:ea typeface="Calibri" pitchFamily="34" charset="-122"/>
                <a:cs typeface="Calibri" pitchFamily="34" charset="-120"/>
              </a:rPr>
              <a:t>R15</a:t>
            </a:r>
            <a:endParaRPr lang="en-US" sz="900" dirty="0"/>
          </a:p>
        </p:txBody>
      </p:sp>
      <p:sp>
        <p:nvSpPr>
          <p:cNvPr id="17" name="Text 15"/>
          <p:cNvSpPr/>
          <p:nvPr/>
        </p:nvSpPr>
        <p:spPr>
          <a:xfrm>
            <a:off x="969264" y="3090672"/>
            <a:ext cx="7772400" cy="237744"/>
          </a:xfrm>
          <a:prstGeom prst="rect">
            <a:avLst/>
          </a:prstGeom>
          <a:noFill/>
          <a:ln/>
        </p:spPr>
        <p:txBody>
          <a:bodyPr wrap="square" lIns="0" tIns="0" rIns="0" bIns="0" rtlCol="0" anchor="ctr"/>
          <a:lstStyle/>
          <a:p>
            <a:pPr algn="l" indent="0" marL="0">
              <a:buNone/>
            </a:pPr>
            <a:r>
              <a:rPr lang="en-US" sz="1200" b="1" dirty="0">
                <a:solidFill>
                  <a:srgbClr val="6EE7B7"/>
                </a:solidFill>
                <a:latin typeface="Calibri" pitchFamily="34" charset="0"/>
                <a:ea typeface="Calibri" pitchFamily="34" charset="-122"/>
                <a:cs typeface="Calibri" pitchFamily="34" charset="-120"/>
              </a:rPr>
              <a:t>Local Storage — data persists across sessions</a:t>
            </a:r>
            <a:endParaRPr lang="en-US" sz="1200" dirty="0"/>
          </a:p>
        </p:txBody>
      </p:sp>
      <p:sp>
        <p:nvSpPr>
          <p:cNvPr id="18" name="Text 16"/>
          <p:cNvSpPr/>
          <p:nvPr/>
        </p:nvSpPr>
        <p:spPr>
          <a:xfrm>
            <a:off x="475488" y="3401568"/>
            <a:ext cx="8229600" cy="201168"/>
          </a:xfrm>
          <a:prstGeom prst="rect">
            <a:avLst/>
          </a:prstGeom>
          <a:noFill/>
          <a:ln/>
        </p:spPr>
        <p:txBody>
          <a:bodyPr wrap="square" lIns="0" tIns="0" rIns="0" bIns="0" rtlCol="0" anchor="ctr"/>
          <a:lstStyle/>
          <a:p>
            <a:pPr algn="l" indent="0" marL="0">
              <a:buNone/>
            </a:pPr>
            <a:r>
              <a:rPr lang="en-US" sz="850" dirty="0">
                <a:solidFill>
                  <a:srgbClr val="F1F5F9"/>
                </a:solidFill>
                <a:latin typeface="Calibri" pitchFamily="34" charset="0"/>
                <a:ea typeface="Calibri" pitchFamily="34" charset="-122"/>
                <a:cs typeface="Calibri" pitchFamily="34" charset="-120"/>
              </a:rPr>
              <a:t>function saveToStorage(key, data) {</a:t>
            </a:r>
            <a:endParaRPr lang="en-US" sz="850" dirty="0"/>
          </a:p>
        </p:txBody>
      </p:sp>
      <p:sp>
        <p:nvSpPr>
          <p:cNvPr id="19" name="Text 17"/>
          <p:cNvSpPr/>
          <p:nvPr/>
        </p:nvSpPr>
        <p:spPr>
          <a:xfrm>
            <a:off x="475488" y="3621024"/>
            <a:ext cx="8229600" cy="201168"/>
          </a:xfrm>
          <a:prstGeom prst="rect">
            <a:avLst/>
          </a:prstGeom>
          <a:noFill/>
          <a:ln/>
        </p:spPr>
        <p:txBody>
          <a:bodyPr wrap="square" lIns="0" tIns="0" rIns="0" bIns="0" rtlCol="0" anchor="ctr"/>
          <a:lstStyle/>
          <a:p>
            <a:pPr algn="l" indent="0" marL="0">
              <a:buNone/>
            </a:pPr>
            <a:r>
              <a:rPr lang="en-US" sz="850" dirty="0">
                <a:solidFill>
                  <a:srgbClr val="6EE7B7"/>
                </a:solidFill>
                <a:latin typeface="Calibri" pitchFamily="34" charset="0"/>
                <a:ea typeface="Calibri" pitchFamily="34" charset="-122"/>
                <a:cs typeface="Calibri" pitchFamily="34" charset="-120"/>
              </a:rPr>
              <a:t>  localStorage.setItem(key, JSON.stringify(data));  // object → string</a:t>
            </a:r>
            <a:endParaRPr lang="en-US" sz="850" dirty="0"/>
          </a:p>
        </p:txBody>
      </p:sp>
      <p:sp>
        <p:nvSpPr>
          <p:cNvPr id="20" name="Text 18"/>
          <p:cNvSpPr/>
          <p:nvPr/>
        </p:nvSpPr>
        <p:spPr>
          <a:xfrm>
            <a:off x="475488" y="3840480"/>
            <a:ext cx="8229600" cy="201168"/>
          </a:xfrm>
          <a:prstGeom prst="rect">
            <a:avLst/>
          </a:prstGeom>
          <a:noFill/>
          <a:ln/>
        </p:spPr>
        <p:txBody>
          <a:bodyPr wrap="square" lIns="0" tIns="0" rIns="0" bIns="0" rtlCol="0" anchor="ctr"/>
          <a:lstStyle/>
          <a:p>
            <a:pPr algn="l" indent="0" marL="0">
              <a:buNone/>
            </a:pPr>
            <a:r>
              <a:rPr lang="en-US" sz="850" dirty="0">
                <a:solidFill>
                  <a:srgbClr val="F1F5F9"/>
                </a:solidFill>
                <a:latin typeface="Calibri" pitchFamily="34" charset="0"/>
                <a:ea typeface="Calibri" pitchFamily="34" charset="-122"/>
                <a:cs typeface="Calibri" pitchFamily="34" charset="-120"/>
              </a:rPr>
              <a:t>}</a:t>
            </a:r>
            <a:endParaRPr lang="en-US" sz="850" dirty="0"/>
          </a:p>
        </p:txBody>
      </p:sp>
      <p:sp>
        <p:nvSpPr>
          <p:cNvPr id="21" name="Text 19"/>
          <p:cNvSpPr/>
          <p:nvPr/>
        </p:nvSpPr>
        <p:spPr>
          <a:xfrm>
            <a:off x="475488" y="4059936"/>
            <a:ext cx="8229600" cy="201168"/>
          </a:xfrm>
          <a:prstGeom prst="rect">
            <a:avLst/>
          </a:prstGeom>
          <a:noFill/>
          <a:ln/>
        </p:spPr>
        <p:txBody>
          <a:bodyPr wrap="square" lIns="0" tIns="0" rIns="0" bIns="0" rtlCol="0" anchor="ctr"/>
          <a:lstStyle/>
          <a:p>
            <a:pPr algn="l" indent="0" marL="0">
              <a:buNone/>
            </a:pPr>
            <a:r>
              <a:rPr lang="en-US" sz="850" dirty="0">
                <a:solidFill>
                  <a:srgbClr val="F1F5F9"/>
                </a:solidFill>
                <a:latin typeface="Calibri" pitchFamily="34" charset="0"/>
                <a:ea typeface="Calibri" pitchFamily="34" charset="-122"/>
                <a:cs typeface="Calibri" pitchFamily="34" charset="-120"/>
              </a:rPr>
              <a:t>function loadFromStorage(key) {</a:t>
            </a:r>
            <a:endParaRPr lang="en-US" sz="850" dirty="0"/>
          </a:p>
        </p:txBody>
      </p:sp>
      <p:sp>
        <p:nvSpPr>
          <p:cNvPr id="22" name="Text 20"/>
          <p:cNvSpPr/>
          <p:nvPr/>
        </p:nvSpPr>
        <p:spPr>
          <a:xfrm>
            <a:off x="475488" y="4279392"/>
            <a:ext cx="8229600" cy="201168"/>
          </a:xfrm>
          <a:prstGeom prst="rect">
            <a:avLst/>
          </a:prstGeom>
          <a:noFill/>
          <a:ln/>
        </p:spPr>
        <p:txBody>
          <a:bodyPr wrap="square" lIns="0" tIns="0" rIns="0" bIns="0" rtlCol="0" anchor="ctr"/>
          <a:lstStyle/>
          <a:p>
            <a:pPr algn="l" indent="0" marL="0">
              <a:buNone/>
            </a:pPr>
            <a:r>
              <a:rPr lang="en-US" sz="850" dirty="0">
                <a:solidFill>
                  <a:srgbClr val="F1F5F9"/>
                </a:solidFill>
                <a:latin typeface="Calibri" pitchFamily="34" charset="0"/>
                <a:ea typeface="Calibri" pitchFamily="34" charset="-122"/>
                <a:cs typeface="Calibri" pitchFamily="34" charset="-120"/>
              </a:rPr>
              <a:t>  const raw = localStorage.getItem(key);</a:t>
            </a:r>
            <a:endParaRPr lang="en-US" sz="850" dirty="0"/>
          </a:p>
        </p:txBody>
      </p:sp>
      <p:sp>
        <p:nvSpPr>
          <p:cNvPr id="23" name="Text 21"/>
          <p:cNvSpPr/>
          <p:nvPr/>
        </p:nvSpPr>
        <p:spPr>
          <a:xfrm>
            <a:off x="475488" y="4498848"/>
            <a:ext cx="8229600" cy="201168"/>
          </a:xfrm>
          <a:prstGeom prst="rect">
            <a:avLst/>
          </a:prstGeom>
          <a:noFill/>
          <a:ln/>
        </p:spPr>
        <p:txBody>
          <a:bodyPr wrap="square" lIns="0" tIns="0" rIns="0" bIns="0" rtlCol="0" anchor="ctr"/>
          <a:lstStyle/>
          <a:p>
            <a:pPr algn="l" indent="0" marL="0">
              <a:buNone/>
            </a:pPr>
            <a:r>
              <a:rPr lang="en-US" sz="850" dirty="0">
                <a:solidFill>
                  <a:srgbClr val="6EE7B7"/>
                </a:solidFill>
                <a:latin typeface="Calibri" pitchFamily="34" charset="0"/>
                <a:ea typeface="Calibri" pitchFamily="34" charset="-122"/>
                <a:cs typeface="Calibri" pitchFamily="34" charset="-120"/>
              </a:rPr>
              <a:t>  return raw ? JSON.parse(raw) : null;              // string → object</a:t>
            </a:r>
            <a:endParaRPr lang="en-US" sz="850" dirty="0"/>
          </a:p>
        </p:txBody>
      </p:sp>
      <p:sp>
        <p:nvSpPr>
          <p:cNvPr id="24" name="Text 22"/>
          <p:cNvSpPr/>
          <p:nvPr/>
        </p:nvSpPr>
        <p:spPr>
          <a:xfrm>
            <a:off x="475488" y="4718304"/>
            <a:ext cx="8229600" cy="201168"/>
          </a:xfrm>
          <a:prstGeom prst="rect">
            <a:avLst/>
          </a:prstGeom>
          <a:noFill/>
          <a:ln/>
        </p:spPr>
        <p:txBody>
          <a:bodyPr wrap="square" lIns="0" tIns="0" rIns="0" bIns="0" rtlCol="0" anchor="ctr"/>
          <a:lstStyle/>
          <a:p>
            <a:pPr algn="l" indent="0" marL="0">
              <a:buNone/>
            </a:pPr>
            <a:r>
              <a:rPr lang="en-US" sz="850" dirty="0">
                <a:solidFill>
                  <a:srgbClr val="F1F5F9"/>
                </a:solidFill>
                <a:latin typeface="Calibri" pitchFamily="34" charset="0"/>
                <a:ea typeface="Calibri" pitchFamily="34" charset="-122"/>
                <a:cs typeface="Calibri" pitchFamily="34" charset="-120"/>
              </a:rPr>
              <a:t>}</a:t>
            </a:r>
            <a:endParaRPr lang="en-US" sz="850" dirty="0"/>
          </a:p>
        </p:txBody>
      </p:sp>
      <p:sp>
        <p:nvSpPr>
          <p:cNvPr id="25" name="Text 23"/>
          <p:cNvSpPr/>
          <p:nvPr/>
        </p:nvSpPr>
        <p:spPr>
          <a:xfrm>
            <a:off x="475488" y="4956048"/>
            <a:ext cx="8229600" cy="164592"/>
          </a:xfrm>
          <a:prstGeom prst="rect">
            <a:avLst/>
          </a:prstGeom>
          <a:noFill/>
          <a:ln/>
        </p:spPr>
        <p:txBody>
          <a:bodyPr wrap="square" lIns="0" tIns="0" rIns="0" bIns="0" rtlCol="0" anchor="ctr"/>
          <a:lstStyle/>
          <a:p>
            <a:pPr algn="l" indent="0" marL="0">
              <a:buNone/>
            </a:pPr>
            <a:r>
              <a:rPr lang="en-US" sz="900" i="1" dirty="0">
                <a:solidFill>
                  <a:srgbClr val="94A3B8"/>
                </a:solidFill>
                <a:latin typeface="Calibri" pitchFamily="34" charset="0"/>
                <a:ea typeface="Calibri" pitchFamily="34" charset="-122"/>
                <a:cs typeface="Calibri" pitchFamily="34" charset="-120"/>
              </a:rPr>
              <a:t>Used for: profile · health logs · goals · device connections · streak count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E"/>
        </a:solidFill>
      </p:bgPr>
    </p:bg>
    <p:spTree>
      <p:nvGrpSpPr>
        <p:cNvPr id="1" name=""/>
        <p:cNvGrpSpPr/>
        <p:nvPr/>
      </p:nvGrpSpPr>
      <p:grpSpPr>
        <a:xfrm>
          <a:off x="0" y="0"/>
          <a:ext cx="0" cy="0"/>
          <a:chOff x="0" y="0"/>
          <a:chExt cx="0" cy="0"/>
        </a:xfrm>
      </p:grpSpPr>
      <p:sp>
        <p:nvSpPr>
          <p:cNvPr id="2" name="Text 0"/>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600" b="1" dirty="0">
                <a:solidFill>
                  <a:srgbClr val="F1F5F9"/>
                </a:solidFill>
                <a:latin typeface="Calibri" pitchFamily="34" charset="0"/>
                <a:ea typeface="Calibri" pitchFamily="34" charset="-122"/>
                <a:cs typeface="Calibri" pitchFamily="34" charset="-120"/>
              </a:rPr>
              <a:t>Skills in code — Drag &amp; Drop &amp; Function types</a:t>
            </a:r>
            <a:endParaRPr lang="en-US" sz="2600" dirty="0"/>
          </a:p>
        </p:txBody>
      </p:sp>
      <p:sp>
        <p:nvSpPr>
          <p:cNvPr id="3" name="Shape 1"/>
          <p:cNvSpPr/>
          <p:nvPr/>
        </p:nvSpPr>
        <p:spPr>
          <a:xfrm>
            <a:off x="365760" y="1170432"/>
            <a:ext cx="5120640" cy="2331720"/>
          </a:xfrm>
          <a:prstGeom prst="roundRect">
            <a:avLst>
              <a:gd name="adj" fmla="val 3922"/>
            </a:avLst>
          </a:prstGeom>
          <a:solidFill>
            <a:srgbClr val="131C2E"/>
          </a:solidFill>
          <a:ln w="6350">
            <a:solidFill>
              <a:srgbClr val="FDA4AF"/>
            </a:solidFill>
            <a:prstDash val="solid"/>
          </a:ln>
        </p:spPr>
      </p:sp>
      <p:sp>
        <p:nvSpPr>
          <p:cNvPr id="4" name="Shape 2"/>
          <p:cNvSpPr/>
          <p:nvPr/>
        </p:nvSpPr>
        <p:spPr>
          <a:xfrm>
            <a:off x="457200" y="1225296"/>
            <a:ext cx="457200" cy="237744"/>
          </a:xfrm>
          <a:prstGeom prst="roundRect">
            <a:avLst>
              <a:gd name="adj" fmla="val 38462"/>
            </a:avLst>
          </a:prstGeom>
          <a:solidFill>
            <a:srgbClr val="BE123C"/>
          </a:solidFill>
          <a:ln w="6350">
            <a:solidFill>
              <a:srgbClr val="BE123C"/>
            </a:solidFill>
            <a:prstDash val="solid"/>
          </a:ln>
        </p:spPr>
      </p:sp>
      <p:sp>
        <p:nvSpPr>
          <p:cNvPr id="5" name="Text 3"/>
          <p:cNvSpPr/>
          <p:nvPr/>
        </p:nvSpPr>
        <p:spPr>
          <a:xfrm>
            <a:off x="457200" y="1225296"/>
            <a:ext cx="457200" cy="237744"/>
          </a:xfrm>
          <a:prstGeom prst="rect">
            <a:avLst/>
          </a:prstGeom>
          <a:noFill/>
          <a:ln/>
        </p:spPr>
        <p:txBody>
          <a:bodyPr wrap="square" lIns="0" tIns="0" rIns="0" bIns="0" rtlCol="0" anchor="ctr"/>
          <a:lstStyle/>
          <a:p>
            <a:pPr algn="ctr" indent="0" marL="0">
              <a:buNone/>
            </a:pPr>
            <a:r>
              <a:rPr lang="en-US" sz="900" b="1" dirty="0">
                <a:solidFill>
                  <a:srgbClr val="F1F5F9"/>
                </a:solidFill>
                <a:latin typeface="Calibri" pitchFamily="34" charset="0"/>
                <a:ea typeface="Calibri" pitchFamily="34" charset="-122"/>
                <a:cs typeface="Calibri" pitchFamily="34" charset="-120"/>
              </a:rPr>
              <a:t>R14</a:t>
            </a:r>
            <a:endParaRPr lang="en-US" sz="900" dirty="0"/>
          </a:p>
        </p:txBody>
      </p:sp>
      <p:sp>
        <p:nvSpPr>
          <p:cNvPr id="6" name="Text 4"/>
          <p:cNvSpPr/>
          <p:nvPr/>
        </p:nvSpPr>
        <p:spPr>
          <a:xfrm>
            <a:off x="969264" y="1225296"/>
            <a:ext cx="4572000" cy="237744"/>
          </a:xfrm>
          <a:prstGeom prst="rect">
            <a:avLst/>
          </a:prstGeom>
          <a:noFill/>
          <a:ln/>
        </p:spPr>
        <p:txBody>
          <a:bodyPr wrap="square" lIns="0" tIns="0" rIns="0" bIns="0" rtlCol="0" anchor="ctr"/>
          <a:lstStyle/>
          <a:p>
            <a:pPr algn="l" indent="0" marL="0">
              <a:buNone/>
            </a:pPr>
            <a:r>
              <a:rPr lang="en-US" sz="1200" b="1" dirty="0">
                <a:solidFill>
                  <a:srgbClr val="FDA4AF"/>
                </a:solidFill>
                <a:latin typeface="Calibri" pitchFamily="34" charset="0"/>
                <a:ea typeface="Calibri" pitchFamily="34" charset="-122"/>
                <a:cs typeface="Calibri" pitchFamily="34" charset="-120"/>
              </a:rPr>
              <a:t>Drag &amp; Drop — goal reordering</a:t>
            </a:r>
            <a:endParaRPr lang="en-US" sz="1200" dirty="0"/>
          </a:p>
        </p:txBody>
      </p:sp>
      <p:sp>
        <p:nvSpPr>
          <p:cNvPr id="7" name="Shape 5"/>
          <p:cNvSpPr/>
          <p:nvPr/>
        </p:nvSpPr>
        <p:spPr>
          <a:xfrm>
            <a:off x="475488" y="1536192"/>
            <a:ext cx="1005840" cy="256032"/>
          </a:xfrm>
          <a:prstGeom prst="roundRect">
            <a:avLst>
              <a:gd name="adj" fmla="val 28571"/>
            </a:avLst>
          </a:prstGeom>
          <a:solidFill>
            <a:srgbClr val="1E2A3A"/>
          </a:solidFill>
          <a:ln w="6350">
            <a:solidFill>
              <a:srgbClr val="BE123C"/>
            </a:solidFill>
            <a:prstDash val="solid"/>
          </a:ln>
        </p:spPr>
      </p:sp>
      <p:sp>
        <p:nvSpPr>
          <p:cNvPr id="8" name="Text 6"/>
          <p:cNvSpPr/>
          <p:nvPr/>
        </p:nvSpPr>
        <p:spPr>
          <a:xfrm>
            <a:off x="475488" y="1536192"/>
            <a:ext cx="1005840" cy="256032"/>
          </a:xfrm>
          <a:prstGeom prst="rect">
            <a:avLst/>
          </a:prstGeom>
          <a:noFill/>
          <a:ln/>
        </p:spPr>
        <p:txBody>
          <a:bodyPr wrap="square" lIns="0" tIns="0" rIns="0" bIns="0" rtlCol="0" anchor="ctr"/>
          <a:lstStyle/>
          <a:p>
            <a:pPr algn="ctr" indent="0" marL="0">
              <a:buNone/>
            </a:pPr>
            <a:r>
              <a:rPr lang="en-US" sz="900" b="1" dirty="0">
                <a:solidFill>
                  <a:srgbClr val="FDA4AF"/>
                </a:solidFill>
                <a:latin typeface="Calibri" pitchFamily="34" charset="0"/>
                <a:ea typeface="Calibri" pitchFamily="34" charset="-122"/>
                <a:cs typeface="Calibri" pitchFamily="34" charset="-120"/>
              </a:rPr>
              <a:t>dragstart</a:t>
            </a:r>
            <a:endParaRPr lang="en-US" sz="900" dirty="0"/>
          </a:p>
        </p:txBody>
      </p:sp>
      <p:sp>
        <p:nvSpPr>
          <p:cNvPr id="9" name="Text 7"/>
          <p:cNvSpPr/>
          <p:nvPr/>
        </p:nvSpPr>
        <p:spPr>
          <a:xfrm>
            <a:off x="1554480" y="1554480"/>
            <a:ext cx="3749040" cy="219456"/>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records which item is being dragged</a:t>
            </a:r>
            <a:endParaRPr lang="en-US" sz="950" dirty="0"/>
          </a:p>
        </p:txBody>
      </p:sp>
      <p:sp>
        <p:nvSpPr>
          <p:cNvPr id="10" name="Shape 8"/>
          <p:cNvSpPr/>
          <p:nvPr/>
        </p:nvSpPr>
        <p:spPr>
          <a:xfrm>
            <a:off x="475488" y="1975104"/>
            <a:ext cx="1005840" cy="256032"/>
          </a:xfrm>
          <a:prstGeom prst="roundRect">
            <a:avLst>
              <a:gd name="adj" fmla="val 28571"/>
            </a:avLst>
          </a:prstGeom>
          <a:solidFill>
            <a:srgbClr val="1E2A3A"/>
          </a:solidFill>
          <a:ln w="6350">
            <a:solidFill>
              <a:srgbClr val="BE123C"/>
            </a:solidFill>
            <a:prstDash val="solid"/>
          </a:ln>
        </p:spPr>
      </p:sp>
      <p:sp>
        <p:nvSpPr>
          <p:cNvPr id="11" name="Text 9"/>
          <p:cNvSpPr/>
          <p:nvPr/>
        </p:nvSpPr>
        <p:spPr>
          <a:xfrm>
            <a:off x="475488" y="1975104"/>
            <a:ext cx="1005840" cy="256032"/>
          </a:xfrm>
          <a:prstGeom prst="rect">
            <a:avLst/>
          </a:prstGeom>
          <a:noFill/>
          <a:ln/>
        </p:spPr>
        <p:txBody>
          <a:bodyPr wrap="square" lIns="0" tIns="0" rIns="0" bIns="0" rtlCol="0" anchor="ctr"/>
          <a:lstStyle/>
          <a:p>
            <a:pPr algn="ctr" indent="0" marL="0">
              <a:buNone/>
            </a:pPr>
            <a:r>
              <a:rPr lang="en-US" sz="900" b="1" dirty="0">
                <a:solidFill>
                  <a:srgbClr val="FDA4AF"/>
                </a:solidFill>
                <a:latin typeface="Calibri" pitchFamily="34" charset="0"/>
                <a:ea typeface="Calibri" pitchFamily="34" charset="-122"/>
                <a:cs typeface="Calibri" pitchFamily="34" charset="-120"/>
              </a:rPr>
              <a:t>dragover</a:t>
            </a:r>
            <a:endParaRPr lang="en-US" sz="900" dirty="0"/>
          </a:p>
        </p:txBody>
      </p:sp>
      <p:sp>
        <p:nvSpPr>
          <p:cNvPr id="12" name="Text 10"/>
          <p:cNvSpPr/>
          <p:nvPr/>
        </p:nvSpPr>
        <p:spPr>
          <a:xfrm>
            <a:off x="1554480" y="1993392"/>
            <a:ext cx="3749040" cy="219456"/>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e.preventDefault() — MUST do this to allow drop</a:t>
            </a:r>
            <a:endParaRPr lang="en-US" sz="950" dirty="0"/>
          </a:p>
        </p:txBody>
      </p:sp>
      <p:sp>
        <p:nvSpPr>
          <p:cNvPr id="13" name="Shape 11"/>
          <p:cNvSpPr/>
          <p:nvPr/>
        </p:nvSpPr>
        <p:spPr>
          <a:xfrm>
            <a:off x="475488" y="2414016"/>
            <a:ext cx="1005840" cy="256032"/>
          </a:xfrm>
          <a:prstGeom prst="roundRect">
            <a:avLst>
              <a:gd name="adj" fmla="val 28571"/>
            </a:avLst>
          </a:prstGeom>
          <a:solidFill>
            <a:srgbClr val="1E2A3A"/>
          </a:solidFill>
          <a:ln w="6350">
            <a:solidFill>
              <a:srgbClr val="BE123C"/>
            </a:solidFill>
            <a:prstDash val="solid"/>
          </a:ln>
        </p:spPr>
      </p:sp>
      <p:sp>
        <p:nvSpPr>
          <p:cNvPr id="14" name="Text 12"/>
          <p:cNvSpPr/>
          <p:nvPr/>
        </p:nvSpPr>
        <p:spPr>
          <a:xfrm>
            <a:off x="475488" y="2414016"/>
            <a:ext cx="1005840" cy="256032"/>
          </a:xfrm>
          <a:prstGeom prst="rect">
            <a:avLst/>
          </a:prstGeom>
          <a:noFill/>
          <a:ln/>
        </p:spPr>
        <p:txBody>
          <a:bodyPr wrap="square" lIns="0" tIns="0" rIns="0" bIns="0" rtlCol="0" anchor="ctr"/>
          <a:lstStyle/>
          <a:p>
            <a:pPr algn="ctr" indent="0" marL="0">
              <a:buNone/>
            </a:pPr>
            <a:r>
              <a:rPr lang="en-US" sz="900" b="1" dirty="0">
                <a:solidFill>
                  <a:srgbClr val="FDA4AF"/>
                </a:solidFill>
                <a:latin typeface="Calibri" pitchFamily="34" charset="0"/>
                <a:ea typeface="Calibri" pitchFamily="34" charset="-122"/>
                <a:cs typeface="Calibri" pitchFamily="34" charset="-120"/>
              </a:rPr>
              <a:t>drop</a:t>
            </a:r>
            <a:endParaRPr lang="en-US" sz="900" dirty="0"/>
          </a:p>
        </p:txBody>
      </p:sp>
      <p:sp>
        <p:nvSpPr>
          <p:cNvPr id="15" name="Text 13"/>
          <p:cNvSpPr/>
          <p:nvPr/>
        </p:nvSpPr>
        <p:spPr>
          <a:xfrm>
            <a:off x="1554480" y="2432304"/>
            <a:ext cx="3749040" cy="219456"/>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reorderGoals() — splice moves item in array</a:t>
            </a:r>
            <a:endParaRPr lang="en-US" sz="950" dirty="0"/>
          </a:p>
        </p:txBody>
      </p:sp>
      <p:sp>
        <p:nvSpPr>
          <p:cNvPr id="16" name="Shape 14"/>
          <p:cNvSpPr/>
          <p:nvPr/>
        </p:nvSpPr>
        <p:spPr>
          <a:xfrm>
            <a:off x="475488" y="2852928"/>
            <a:ext cx="1005840" cy="256032"/>
          </a:xfrm>
          <a:prstGeom prst="roundRect">
            <a:avLst>
              <a:gd name="adj" fmla="val 28571"/>
            </a:avLst>
          </a:prstGeom>
          <a:solidFill>
            <a:srgbClr val="1E2A3A"/>
          </a:solidFill>
          <a:ln w="6350">
            <a:solidFill>
              <a:srgbClr val="BE123C"/>
            </a:solidFill>
            <a:prstDash val="solid"/>
          </a:ln>
        </p:spPr>
      </p:sp>
      <p:sp>
        <p:nvSpPr>
          <p:cNvPr id="17" name="Text 15"/>
          <p:cNvSpPr/>
          <p:nvPr/>
        </p:nvSpPr>
        <p:spPr>
          <a:xfrm>
            <a:off x="475488" y="2852928"/>
            <a:ext cx="1005840" cy="256032"/>
          </a:xfrm>
          <a:prstGeom prst="rect">
            <a:avLst/>
          </a:prstGeom>
          <a:noFill/>
          <a:ln/>
        </p:spPr>
        <p:txBody>
          <a:bodyPr wrap="square" lIns="0" tIns="0" rIns="0" bIns="0" rtlCol="0" anchor="ctr"/>
          <a:lstStyle/>
          <a:p>
            <a:pPr algn="ctr" indent="0" marL="0">
              <a:buNone/>
            </a:pPr>
            <a:r>
              <a:rPr lang="en-US" sz="900" b="1" dirty="0">
                <a:solidFill>
                  <a:srgbClr val="FDA4AF"/>
                </a:solidFill>
                <a:latin typeface="Calibri" pitchFamily="34" charset="0"/>
                <a:ea typeface="Calibri" pitchFamily="34" charset="-122"/>
                <a:cs typeface="Calibri" pitchFamily="34" charset="-120"/>
              </a:rPr>
              <a:t>dragend</a:t>
            </a:r>
            <a:endParaRPr lang="en-US" sz="900" dirty="0"/>
          </a:p>
        </p:txBody>
      </p:sp>
      <p:sp>
        <p:nvSpPr>
          <p:cNvPr id="18" name="Text 16"/>
          <p:cNvSpPr/>
          <p:nvPr/>
        </p:nvSpPr>
        <p:spPr>
          <a:xfrm>
            <a:off x="1554480" y="2871216"/>
            <a:ext cx="3749040" cy="219456"/>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cleans up visual state</a:t>
            </a:r>
            <a:endParaRPr lang="en-US" sz="950" dirty="0"/>
          </a:p>
        </p:txBody>
      </p:sp>
      <p:sp>
        <p:nvSpPr>
          <p:cNvPr id="19" name="Text 17"/>
          <p:cNvSpPr/>
          <p:nvPr/>
        </p:nvSpPr>
        <p:spPr>
          <a:xfrm>
            <a:off x="475488" y="3236976"/>
            <a:ext cx="5120640" cy="182880"/>
          </a:xfrm>
          <a:prstGeom prst="rect">
            <a:avLst/>
          </a:prstGeom>
          <a:noFill/>
          <a:ln/>
        </p:spPr>
        <p:txBody>
          <a:bodyPr wrap="square" lIns="0" tIns="0" rIns="0" bIns="0" rtlCol="0" anchor="ctr"/>
          <a:lstStyle/>
          <a:p>
            <a:pPr algn="l" indent="0" marL="0">
              <a:buNone/>
            </a:pPr>
            <a:r>
              <a:rPr lang="en-US" sz="900" dirty="0">
                <a:solidFill>
                  <a:srgbClr val="BE123C"/>
                </a:solidFill>
                <a:latin typeface="Calibri" pitchFamily="34" charset="0"/>
                <a:ea typeface="Calibri" pitchFamily="34" charset="-122"/>
                <a:cs typeface="Calibri" pitchFamily="34" charset="-120"/>
              </a:rPr>
              <a:t>script.js lines 395–418</a:t>
            </a:r>
            <a:endParaRPr lang="en-US" sz="900" dirty="0"/>
          </a:p>
        </p:txBody>
      </p:sp>
      <p:sp>
        <p:nvSpPr>
          <p:cNvPr id="20" name="Shape 18"/>
          <p:cNvSpPr/>
          <p:nvPr/>
        </p:nvSpPr>
        <p:spPr>
          <a:xfrm>
            <a:off x="5623560" y="1170432"/>
            <a:ext cx="3246120" cy="2331720"/>
          </a:xfrm>
          <a:prstGeom prst="roundRect">
            <a:avLst>
              <a:gd name="adj" fmla="val 3922"/>
            </a:avLst>
          </a:prstGeom>
          <a:solidFill>
            <a:srgbClr val="131C2E"/>
          </a:solidFill>
          <a:ln w="6350">
            <a:solidFill>
              <a:srgbClr val="C4B5FD"/>
            </a:solidFill>
            <a:prstDash val="solid"/>
          </a:ln>
        </p:spPr>
      </p:sp>
      <p:sp>
        <p:nvSpPr>
          <p:cNvPr id="21" name="Shape 19"/>
          <p:cNvSpPr/>
          <p:nvPr/>
        </p:nvSpPr>
        <p:spPr>
          <a:xfrm>
            <a:off x="5715000" y="1225296"/>
            <a:ext cx="457200" cy="237744"/>
          </a:xfrm>
          <a:prstGeom prst="roundRect">
            <a:avLst>
              <a:gd name="adj" fmla="val 38462"/>
            </a:avLst>
          </a:prstGeom>
          <a:solidFill>
            <a:srgbClr val="7C3AED"/>
          </a:solidFill>
          <a:ln w="6350">
            <a:solidFill>
              <a:srgbClr val="7C3AED"/>
            </a:solidFill>
            <a:prstDash val="solid"/>
          </a:ln>
        </p:spPr>
      </p:sp>
      <p:sp>
        <p:nvSpPr>
          <p:cNvPr id="22" name="Text 20"/>
          <p:cNvSpPr/>
          <p:nvPr/>
        </p:nvSpPr>
        <p:spPr>
          <a:xfrm>
            <a:off x="5715000" y="1225296"/>
            <a:ext cx="457200" cy="237744"/>
          </a:xfrm>
          <a:prstGeom prst="rect">
            <a:avLst/>
          </a:prstGeom>
          <a:noFill/>
          <a:ln/>
        </p:spPr>
        <p:txBody>
          <a:bodyPr wrap="square" lIns="0" tIns="0" rIns="0" bIns="0" rtlCol="0" anchor="ctr"/>
          <a:lstStyle/>
          <a:p>
            <a:pPr algn="ctr" indent="0" marL="0">
              <a:buNone/>
            </a:pPr>
            <a:r>
              <a:rPr lang="en-US" sz="900" b="1" dirty="0">
                <a:solidFill>
                  <a:srgbClr val="F1F5F9"/>
                </a:solidFill>
                <a:latin typeface="Calibri" pitchFamily="34" charset="0"/>
                <a:ea typeface="Calibri" pitchFamily="34" charset="-122"/>
                <a:cs typeface="Calibri" pitchFamily="34" charset="-120"/>
              </a:rPr>
              <a:t>R10</a:t>
            </a:r>
            <a:endParaRPr lang="en-US" sz="900" dirty="0"/>
          </a:p>
        </p:txBody>
      </p:sp>
      <p:sp>
        <p:nvSpPr>
          <p:cNvPr id="23" name="Text 21"/>
          <p:cNvSpPr/>
          <p:nvPr/>
        </p:nvSpPr>
        <p:spPr>
          <a:xfrm>
            <a:off x="6236208" y="1225296"/>
            <a:ext cx="2560320" cy="237744"/>
          </a:xfrm>
          <a:prstGeom prst="rect">
            <a:avLst/>
          </a:prstGeom>
          <a:noFill/>
          <a:ln/>
        </p:spPr>
        <p:txBody>
          <a:bodyPr wrap="square" lIns="0" tIns="0" rIns="0" bIns="0" rtlCol="0" anchor="ctr"/>
          <a:lstStyle/>
          <a:p>
            <a:pPr algn="l" indent="0" marL="0">
              <a:buNone/>
            </a:pPr>
            <a:r>
              <a:rPr lang="en-US" sz="1200" b="1" dirty="0">
                <a:solidFill>
                  <a:srgbClr val="C4B5FD"/>
                </a:solidFill>
                <a:latin typeface="Calibri" pitchFamily="34" charset="0"/>
                <a:ea typeface="Calibri" pitchFamily="34" charset="-122"/>
                <a:cs typeface="Calibri" pitchFamily="34" charset="-120"/>
              </a:rPr>
              <a:t>3 function types</a:t>
            </a:r>
            <a:endParaRPr lang="en-US" sz="1200" dirty="0"/>
          </a:p>
        </p:txBody>
      </p:sp>
      <p:sp>
        <p:nvSpPr>
          <p:cNvPr id="24" name="Text 22"/>
          <p:cNvSpPr/>
          <p:nvPr/>
        </p:nvSpPr>
        <p:spPr>
          <a:xfrm>
            <a:off x="5715000" y="1572768"/>
            <a:ext cx="1005840" cy="201168"/>
          </a:xfrm>
          <a:prstGeom prst="rect">
            <a:avLst/>
          </a:prstGeom>
          <a:noFill/>
          <a:ln/>
        </p:spPr>
        <p:txBody>
          <a:bodyPr wrap="square" lIns="0" tIns="0" rIns="0" bIns="0" rtlCol="0" anchor="ctr"/>
          <a:lstStyle/>
          <a:p>
            <a:pPr algn="l" indent="0" marL="0">
              <a:buNone/>
            </a:pPr>
            <a:r>
              <a:rPr lang="en-US" sz="900" b="1" dirty="0">
                <a:solidFill>
                  <a:srgbClr val="C4B5FD"/>
                </a:solidFill>
                <a:latin typeface="Calibri" pitchFamily="34" charset="0"/>
                <a:ea typeface="Calibri" pitchFamily="34" charset="-122"/>
                <a:cs typeface="Calibri" pitchFamily="34" charset="-120"/>
              </a:rPr>
              <a:t>Standard</a:t>
            </a:r>
            <a:endParaRPr lang="en-US" sz="900" dirty="0"/>
          </a:p>
        </p:txBody>
      </p:sp>
      <p:sp>
        <p:nvSpPr>
          <p:cNvPr id="25" name="Shape 23"/>
          <p:cNvSpPr/>
          <p:nvPr/>
        </p:nvSpPr>
        <p:spPr>
          <a:xfrm>
            <a:off x="5715000" y="1773936"/>
            <a:ext cx="3063240" cy="237744"/>
          </a:xfrm>
          <a:prstGeom prst="roundRect">
            <a:avLst>
              <a:gd name="adj" fmla="val 19231"/>
            </a:avLst>
          </a:prstGeom>
          <a:solidFill>
            <a:srgbClr val="1E2A3A"/>
          </a:solidFill>
          <a:ln w="6350">
            <a:solidFill>
              <a:srgbClr val="1E3A5F"/>
            </a:solidFill>
            <a:prstDash val="solid"/>
          </a:ln>
        </p:spPr>
      </p:sp>
      <p:sp>
        <p:nvSpPr>
          <p:cNvPr id="26" name="Text 24"/>
          <p:cNvSpPr/>
          <p:nvPr/>
        </p:nvSpPr>
        <p:spPr>
          <a:xfrm>
            <a:off x="5760720" y="1783080"/>
            <a:ext cx="2971800" cy="219456"/>
          </a:xfrm>
          <a:prstGeom prst="rect">
            <a:avLst/>
          </a:prstGeom>
          <a:noFill/>
          <a:ln/>
        </p:spPr>
        <p:txBody>
          <a:bodyPr wrap="square" lIns="0" tIns="0" rIns="0" bIns="0" rtlCol="0" anchor="ctr"/>
          <a:lstStyle/>
          <a:p>
            <a:pPr algn="l" indent="0" marL="0">
              <a:buNone/>
            </a:pPr>
            <a:r>
              <a:rPr lang="en-US" sz="750" dirty="0">
                <a:solidFill>
                  <a:srgbClr val="FCD34D"/>
                </a:solidFill>
                <a:latin typeface="Calibri" pitchFamily="34" charset="0"/>
                <a:ea typeface="Calibri" pitchFamily="34" charset="-122"/>
                <a:cs typeface="Calibri" pitchFamily="34" charset="-120"/>
              </a:rPr>
              <a:t>function drawWellnessRing(score) {</a:t>
            </a:r>
            <a:endParaRPr lang="en-US" sz="750" dirty="0"/>
          </a:p>
        </p:txBody>
      </p:sp>
      <p:sp>
        <p:nvSpPr>
          <p:cNvPr id="27" name="Text 25"/>
          <p:cNvSpPr/>
          <p:nvPr/>
        </p:nvSpPr>
        <p:spPr>
          <a:xfrm>
            <a:off x="5715000" y="2194560"/>
            <a:ext cx="1005840" cy="201168"/>
          </a:xfrm>
          <a:prstGeom prst="rect">
            <a:avLst/>
          </a:prstGeom>
          <a:noFill/>
          <a:ln/>
        </p:spPr>
        <p:txBody>
          <a:bodyPr wrap="square" lIns="0" tIns="0" rIns="0" bIns="0" rtlCol="0" anchor="ctr"/>
          <a:lstStyle/>
          <a:p>
            <a:pPr algn="l" indent="0" marL="0">
              <a:buNone/>
            </a:pPr>
            <a:r>
              <a:rPr lang="en-US" sz="900" b="1" dirty="0">
                <a:solidFill>
                  <a:srgbClr val="C4B5FD"/>
                </a:solidFill>
                <a:latin typeface="Calibri" pitchFamily="34" charset="0"/>
                <a:ea typeface="Calibri" pitchFamily="34" charset="-122"/>
                <a:cs typeface="Calibri" pitchFamily="34" charset="-120"/>
              </a:rPr>
              <a:t>Anonymous</a:t>
            </a:r>
            <a:endParaRPr lang="en-US" sz="900" dirty="0"/>
          </a:p>
        </p:txBody>
      </p:sp>
      <p:sp>
        <p:nvSpPr>
          <p:cNvPr id="28" name="Shape 26"/>
          <p:cNvSpPr/>
          <p:nvPr/>
        </p:nvSpPr>
        <p:spPr>
          <a:xfrm>
            <a:off x="5715000" y="2395728"/>
            <a:ext cx="3063240" cy="237744"/>
          </a:xfrm>
          <a:prstGeom prst="roundRect">
            <a:avLst>
              <a:gd name="adj" fmla="val 19231"/>
            </a:avLst>
          </a:prstGeom>
          <a:solidFill>
            <a:srgbClr val="1E2A3A"/>
          </a:solidFill>
          <a:ln w="6350">
            <a:solidFill>
              <a:srgbClr val="1E3A5F"/>
            </a:solidFill>
            <a:prstDash val="solid"/>
          </a:ln>
        </p:spPr>
      </p:sp>
      <p:sp>
        <p:nvSpPr>
          <p:cNvPr id="29" name="Text 27"/>
          <p:cNvSpPr/>
          <p:nvPr/>
        </p:nvSpPr>
        <p:spPr>
          <a:xfrm>
            <a:off x="5760720" y="2404872"/>
            <a:ext cx="2971800" cy="219456"/>
          </a:xfrm>
          <a:prstGeom prst="rect">
            <a:avLst/>
          </a:prstGeom>
          <a:noFill/>
          <a:ln/>
        </p:spPr>
        <p:txBody>
          <a:bodyPr wrap="square" lIns="0" tIns="0" rIns="0" bIns="0" rtlCol="0" anchor="ctr"/>
          <a:lstStyle/>
          <a:p>
            <a:pPr algn="l" indent="0" marL="0">
              <a:buNone/>
            </a:pPr>
            <a:r>
              <a:rPr lang="en-US" sz="750" dirty="0">
                <a:solidFill>
                  <a:srgbClr val="FCD34D"/>
                </a:solidFill>
                <a:latin typeface="Calibri" pitchFamily="34" charset="0"/>
                <a:ea typeface="Calibri" pitchFamily="34" charset="-122"/>
                <a:cs typeface="Calibri" pitchFamily="34" charset="-120"/>
              </a:rPr>
              <a:t>btn.addEventListener('click',function(){</a:t>
            </a:r>
            <a:endParaRPr lang="en-US" sz="750" dirty="0"/>
          </a:p>
        </p:txBody>
      </p:sp>
      <p:sp>
        <p:nvSpPr>
          <p:cNvPr id="30" name="Text 28"/>
          <p:cNvSpPr/>
          <p:nvPr/>
        </p:nvSpPr>
        <p:spPr>
          <a:xfrm>
            <a:off x="5715000" y="2816352"/>
            <a:ext cx="1005840" cy="201168"/>
          </a:xfrm>
          <a:prstGeom prst="rect">
            <a:avLst/>
          </a:prstGeom>
          <a:noFill/>
          <a:ln/>
        </p:spPr>
        <p:txBody>
          <a:bodyPr wrap="square" lIns="0" tIns="0" rIns="0" bIns="0" rtlCol="0" anchor="ctr"/>
          <a:lstStyle/>
          <a:p>
            <a:pPr algn="l" indent="0" marL="0">
              <a:buNone/>
            </a:pPr>
            <a:r>
              <a:rPr lang="en-US" sz="900" b="1" dirty="0">
                <a:solidFill>
                  <a:srgbClr val="C4B5FD"/>
                </a:solidFill>
                <a:latin typeface="Calibri" pitchFamily="34" charset="0"/>
                <a:ea typeface="Calibri" pitchFamily="34" charset="-122"/>
                <a:cs typeface="Calibri" pitchFamily="34" charset="-120"/>
              </a:rPr>
              <a:t>Arrow</a:t>
            </a:r>
            <a:endParaRPr lang="en-US" sz="900" dirty="0"/>
          </a:p>
        </p:txBody>
      </p:sp>
      <p:sp>
        <p:nvSpPr>
          <p:cNvPr id="31" name="Shape 29"/>
          <p:cNvSpPr/>
          <p:nvPr/>
        </p:nvSpPr>
        <p:spPr>
          <a:xfrm>
            <a:off x="5715000" y="3017520"/>
            <a:ext cx="3063240" cy="237744"/>
          </a:xfrm>
          <a:prstGeom prst="roundRect">
            <a:avLst>
              <a:gd name="adj" fmla="val 19231"/>
            </a:avLst>
          </a:prstGeom>
          <a:solidFill>
            <a:srgbClr val="1E2A3A"/>
          </a:solidFill>
          <a:ln w="6350">
            <a:solidFill>
              <a:srgbClr val="1E3A5F"/>
            </a:solidFill>
            <a:prstDash val="solid"/>
          </a:ln>
        </p:spPr>
      </p:sp>
      <p:sp>
        <p:nvSpPr>
          <p:cNvPr id="32" name="Text 30"/>
          <p:cNvSpPr/>
          <p:nvPr/>
        </p:nvSpPr>
        <p:spPr>
          <a:xfrm>
            <a:off x="5760720" y="3026664"/>
            <a:ext cx="2971800" cy="219456"/>
          </a:xfrm>
          <a:prstGeom prst="rect">
            <a:avLst/>
          </a:prstGeom>
          <a:noFill/>
          <a:ln/>
        </p:spPr>
        <p:txBody>
          <a:bodyPr wrap="square" lIns="0" tIns="0" rIns="0" bIns="0" rtlCol="0" anchor="ctr"/>
          <a:lstStyle/>
          <a:p>
            <a:pPr algn="l" indent="0" marL="0">
              <a:buNone/>
            </a:pPr>
            <a:r>
              <a:rPr lang="en-US" sz="750" dirty="0">
                <a:solidFill>
                  <a:srgbClr val="FCD34D"/>
                </a:solidFill>
                <a:latin typeface="Calibri" pitchFamily="34" charset="0"/>
                <a:ea typeface="Calibri" pitchFamily="34" charset="-122"/>
                <a:cs typeface="Calibri" pitchFamily="34" charset="-120"/>
              </a:rPr>
              <a:t>const sendMessage = async () =&gt; {</a:t>
            </a:r>
            <a:endParaRPr lang="en-US" sz="750" dirty="0"/>
          </a:p>
        </p:txBody>
      </p:sp>
      <p:sp>
        <p:nvSpPr>
          <p:cNvPr id="33" name="Text 31"/>
          <p:cNvSpPr/>
          <p:nvPr/>
        </p:nvSpPr>
        <p:spPr>
          <a:xfrm>
            <a:off x="5715000" y="3236976"/>
            <a:ext cx="3246120" cy="182880"/>
          </a:xfrm>
          <a:prstGeom prst="rect">
            <a:avLst/>
          </a:prstGeom>
          <a:noFill/>
          <a:ln/>
        </p:spPr>
        <p:txBody>
          <a:bodyPr wrap="square" lIns="0" tIns="0" rIns="0" bIns="0" rtlCol="0" anchor="ctr"/>
          <a:lstStyle/>
          <a:p>
            <a:pPr algn="l" indent="0" marL="0">
              <a:buNone/>
            </a:pPr>
            <a:r>
              <a:rPr lang="en-US" sz="900" dirty="0">
                <a:solidFill>
                  <a:srgbClr val="7C3AED"/>
                </a:solidFill>
                <a:latin typeface="Calibri" pitchFamily="34" charset="0"/>
                <a:ea typeface="Calibri" pitchFamily="34" charset="-122"/>
                <a:cs typeface="Calibri" pitchFamily="34" charset="-120"/>
              </a:rPr>
              <a:t>script.js lines 215, 123, 420</a:t>
            </a:r>
            <a:endParaRPr lang="en-US" sz="900" dirty="0"/>
          </a:p>
        </p:txBody>
      </p:sp>
      <p:sp>
        <p:nvSpPr>
          <p:cNvPr id="34" name="Text 32"/>
          <p:cNvSpPr/>
          <p:nvPr/>
        </p:nvSpPr>
        <p:spPr>
          <a:xfrm>
            <a:off x="365760" y="3520440"/>
            <a:ext cx="8412480" cy="256032"/>
          </a:xfrm>
          <a:prstGeom prst="rect">
            <a:avLst/>
          </a:prstGeom>
          <a:noFill/>
          <a:ln/>
        </p:spPr>
        <p:txBody>
          <a:bodyPr wrap="square" lIns="0" tIns="0" rIns="0" bIns="0" rtlCol="0" anchor="ctr"/>
          <a:lstStyle/>
          <a:p>
            <a:pPr algn="l" indent="0" marL="0">
              <a:buNone/>
            </a:pPr>
            <a:r>
              <a:rPr lang="en-US" sz="1100" b="1" dirty="0">
                <a:solidFill>
                  <a:srgbClr val="94A3B8"/>
                </a:solidFill>
                <a:latin typeface="Calibri" pitchFamily="34" charset="0"/>
                <a:ea typeface="Calibri" pitchFamily="34" charset="-122"/>
                <a:cs typeface="Calibri" pitchFamily="34" charset="-120"/>
              </a:rPr>
              <a:t>All 15 required skills — quick reference</a:t>
            </a:r>
            <a:endParaRPr lang="en-US" sz="1100" dirty="0"/>
          </a:p>
        </p:txBody>
      </p:sp>
      <p:sp>
        <p:nvSpPr>
          <p:cNvPr id="35" name="Shape 33"/>
          <p:cNvSpPr/>
          <p:nvPr/>
        </p:nvSpPr>
        <p:spPr>
          <a:xfrm>
            <a:off x="365760" y="3822192"/>
            <a:ext cx="384048" cy="201168"/>
          </a:xfrm>
          <a:prstGeom prst="roundRect">
            <a:avLst>
              <a:gd name="adj" fmla="val 36364"/>
            </a:avLst>
          </a:prstGeom>
          <a:solidFill>
            <a:srgbClr val="7C3AED"/>
          </a:solidFill>
          <a:ln w="6350">
            <a:solidFill>
              <a:srgbClr val="7C3AED"/>
            </a:solidFill>
            <a:prstDash val="solid"/>
          </a:ln>
        </p:spPr>
      </p:sp>
      <p:sp>
        <p:nvSpPr>
          <p:cNvPr id="36" name="Text 34"/>
          <p:cNvSpPr/>
          <p:nvPr/>
        </p:nvSpPr>
        <p:spPr>
          <a:xfrm>
            <a:off x="365760" y="3822192"/>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R01</a:t>
            </a:r>
            <a:endParaRPr lang="en-US" sz="800" dirty="0"/>
          </a:p>
        </p:txBody>
      </p:sp>
      <p:sp>
        <p:nvSpPr>
          <p:cNvPr id="37" name="Text 35"/>
          <p:cNvSpPr/>
          <p:nvPr/>
        </p:nvSpPr>
        <p:spPr>
          <a:xfrm>
            <a:off x="804672" y="3822192"/>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HTML Forms</a:t>
            </a:r>
            <a:endParaRPr lang="en-US" sz="900" dirty="0"/>
          </a:p>
        </p:txBody>
      </p:sp>
      <p:sp>
        <p:nvSpPr>
          <p:cNvPr id="38" name="Shape 36"/>
          <p:cNvSpPr/>
          <p:nvPr/>
        </p:nvSpPr>
        <p:spPr>
          <a:xfrm>
            <a:off x="3246120" y="3822192"/>
            <a:ext cx="384048" cy="201168"/>
          </a:xfrm>
          <a:prstGeom prst="roundRect">
            <a:avLst>
              <a:gd name="adj" fmla="val 36364"/>
            </a:avLst>
          </a:prstGeom>
          <a:solidFill>
            <a:srgbClr val="7C3AED"/>
          </a:solidFill>
          <a:ln w="6350">
            <a:solidFill>
              <a:srgbClr val="7C3AED"/>
            </a:solidFill>
            <a:prstDash val="solid"/>
          </a:ln>
        </p:spPr>
      </p:sp>
      <p:sp>
        <p:nvSpPr>
          <p:cNvPr id="39" name="Text 37"/>
          <p:cNvSpPr/>
          <p:nvPr/>
        </p:nvSpPr>
        <p:spPr>
          <a:xfrm>
            <a:off x="3246120" y="3822192"/>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R06</a:t>
            </a:r>
            <a:endParaRPr lang="en-US" sz="800" dirty="0"/>
          </a:p>
        </p:txBody>
      </p:sp>
      <p:sp>
        <p:nvSpPr>
          <p:cNvPr id="40" name="Text 38"/>
          <p:cNvSpPr/>
          <p:nvPr/>
        </p:nvSpPr>
        <p:spPr>
          <a:xfrm>
            <a:off x="3685032" y="3822192"/>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var/let/const</a:t>
            </a:r>
            <a:endParaRPr lang="en-US" sz="900" dirty="0"/>
          </a:p>
        </p:txBody>
      </p:sp>
      <p:sp>
        <p:nvSpPr>
          <p:cNvPr id="41" name="Shape 39"/>
          <p:cNvSpPr/>
          <p:nvPr/>
        </p:nvSpPr>
        <p:spPr>
          <a:xfrm>
            <a:off x="6126480" y="3822192"/>
            <a:ext cx="384048" cy="201168"/>
          </a:xfrm>
          <a:prstGeom prst="roundRect">
            <a:avLst>
              <a:gd name="adj" fmla="val 36364"/>
            </a:avLst>
          </a:prstGeom>
          <a:solidFill>
            <a:srgbClr val="7C3AED"/>
          </a:solidFill>
          <a:ln w="6350">
            <a:solidFill>
              <a:srgbClr val="7C3AED"/>
            </a:solidFill>
            <a:prstDash val="solid"/>
          </a:ln>
        </p:spPr>
      </p:sp>
      <p:sp>
        <p:nvSpPr>
          <p:cNvPr id="42" name="Text 40"/>
          <p:cNvSpPr/>
          <p:nvPr/>
        </p:nvSpPr>
        <p:spPr>
          <a:xfrm>
            <a:off x="6126480" y="3822192"/>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R11</a:t>
            </a:r>
            <a:endParaRPr lang="en-US" sz="800" dirty="0"/>
          </a:p>
        </p:txBody>
      </p:sp>
      <p:sp>
        <p:nvSpPr>
          <p:cNvPr id="43" name="Text 41"/>
          <p:cNvSpPr/>
          <p:nvPr/>
        </p:nvSpPr>
        <p:spPr>
          <a:xfrm>
            <a:off x="6565392" y="3822192"/>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Dynamic typing</a:t>
            </a:r>
            <a:endParaRPr lang="en-US" sz="900" dirty="0"/>
          </a:p>
        </p:txBody>
      </p:sp>
      <p:sp>
        <p:nvSpPr>
          <p:cNvPr id="44" name="Shape 42"/>
          <p:cNvSpPr/>
          <p:nvPr/>
        </p:nvSpPr>
        <p:spPr>
          <a:xfrm>
            <a:off x="365760" y="4123944"/>
            <a:ext cx="384048" cy="201168"/>
          </a:xfrm>
          <a:prstGeom prst="roundRect">
            <a:avLst>
              <a:gd name="adj" fmla="val 36364"/>
            </a:avLst>
          </a:prstGeom>
          <a:solidFill>
            <a:srgbClr val="7C3AED"/>
          </a:solidFill>
          <a:ln w="6350">
            <a:solidFill>
              <a:srgbClr val="7C3AED"/>
            </a:solidFill>
            <a:prstDash val="solid"/>
          </a:ln>
        </p:spPr>
      </p:sp>
      <p:sp>
        <p:nvSpPr>
          <p:cNvPr id="45" name="Text 43"/>
          <p:cNvSpPr/>
          <p:nvPr/>
        </p:nvSpPr>
        <p:spPr>
          <a:xfrm>
            <a:off x="365760" y="4123944"/>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R02</a:t>
            </a:r>
            <a:endParaRPr lang="en-US" sz="800" dirty="0"/>
          </a:p>
        </p:txBody>
      </p:sp>
      <p:sp>
        <p:nvSpPr>
          <p:cNvPr id="46" name="Text 44"/>
          <p:cNvSpPr/>
          <p:nvPr/>
        </p:nvSpPr>
        <p:spPr>
          <a:xfrm>
            <a:off x="804672" y="4123944"/>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Canvas/Audio</a:t>
            </a:r>
            <a:endParaRPr lang="en-US" sz="900" dirty="0"/>
          </a:p>
        </p:txBody>
      </p:sp>
      <p:sp>
        <p:nvSpPr>
          <p:cNvPr id="47" name="Shape 45"/>
          <p:cNvSpPr/>
          <p:nvPr/>
        </p:nvSpPr>
        <p:spPr>
          <a:xfrm>
            <a:off x="3246120" y="4123944"/>
            <a:ext cx="384048" cy="201168"/>
          </a:xfrm>
          <a:prstGeom prst="roundRect">
            <a:avLst>
              <a:gd name="adj" fmla="val 36364"/>
            </a:avLst>
          </a:prstGeom>
          <a:solidFill>
            <a:srgbClr val="7C3AED"/>
          </a:solidFill>
          <a:ln w="6350">
            <a:solidFill>
              <a:srgbClr val="7C3AED"/>
            </a:solidFill>
            <a:prstDash val="solid"/>
          </a:ln>
        </p:spPr>
      </p:sp>
      <p:sp>
        <p:nvSpPr>
          <p:cNvPr id="48" name="Text 46"/>
          <p:cNvSpPr/>
          <p:nvPr/>
        </p:nvSpPr>
        <p:spPr>
          <a:xfrm>
            <a:off x="3246120" y="4123944"/>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R07</a:t>
            </a:r>
            <a:endParaRPr lang="en-US" sz="800" dirty="0"/>
          </a:p>
        </p:txBody>
      </p:sp>
      <p:sp>
        <p:nvSpPr>
          <p:cNvPr id="49" name="Text 47"/>
          <p:cNvSpPr/>
          <p:nvPr/>
        </p:nvSpPr>
        <p:spPr>
          <a:xfrm>
            <a:off x="3685032" y="4123944"/>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Math &amp; Date</a:t>
            </a:r>
            <a:endParaRPr lang="en-US" sz="900" dirty="0"/>
          </a:p>
        </p:txBody>
      </p:sp>
      <p:sp>
        <p:nvSpPr>
          <p:cNvPr id="50" name="Shape 48"/>
          <p:cNvSpPr/>
          <p:nvPr/>
        </p:nvSpPr>
        <p:spPr>
          <a:xfrm>
            <a:off x="6126480" y="4123944"/>
            <a:ext cx="384048" cy="201168"/>
          </a:xfrm>
          <a:prstGeom prst="roundRect">
            <a:avLst>
              <a:gd name="adj" fmla="val 36364"/>
            </a:avLst>
          </a:prstGeom>
          <a:solidFill>
            <a:srgbClr val="7C3AED"/>
          </a:solidFill>
          <a:ln w="6350">
            <a:solidFill>
              <a:srgbClr val="7C3AED"/>
            </a:solidFill>
            <a:prstDash val="solid"/>
          </a:ln>
        </p:spPr>
      </p:sp>
      <p:sp>
        <p:nvSpPr>
          <p:cNvPr id="51" name="Text 49"/>
          <p:cNvSpPr/>
          <p:nvPr/>
        </p:nvSpPr>
        <p:spPr>
          <a:xfrm>
            <a:off x="6126480" y="4123944"/>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R12</a:t>
            </a:r>
            <a:endParaRPr lang="en-US" sz="800" dirty="0"/>
          </a:p>
        </p:txBody>
      </p:sp>
      <p:sp>
        <p:nvSpPr>
          <p:cNvPr id="52" name="Text 50"/>
          <p:cNvSpPr/>
          <p:nvPr/>
        </p:nvSpPr>
        <p:spPr>
          <a:xfrm>
            <a:off x="6565392" y="4123944"/>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Objects</a:t>
            </a:r>
            <a:endParaRPr lang="en-US" sz="900" dirty="0"/>
          </a:p>
        </p:txBody>
      </p:sp>
      <p:sp>
        <p:nvSpPr>
          <p:cNvPr id="53" name="Shape 51"/>
          <p:cNvSpPr/>
          <p:nvPr/>
        </p:nvSpPr>
        <p:spPr>
          <a:xfrm>
            <a:off x="365760" y="4425696"/>
            <a:ext cx="384048" cy="201168"/>
          </a:xfrm>
          <a:prstGeom prst="roundRect">
            <a:avLst>
              <a:gd name="adj" fmla="val 36364"/>
            </a:avLst>
          </a:prstGeom>
          <a:solidFill>
            <a:srgbClr val="7C3AED"/>
          </a:solidFill>
          <a:ln w="6350">
            <a:solidFill>
              <a:srgbClr val="7C3AED"/>
            </a:solidFill>
            <a:prstDash val="solid"/>
          </a:ln>
        </p:spPr>
      </p:sp>
      <p:sp>
        <p:nvSpPr>
          <p:cNvPr id="54" name="Text 52"/>
          <p:cNvSpPr/>
          <p:nvPr/>
        </p:nvSpPr>
        <p:spPr>
          <a:xfrm>
            <a:off x="365760" y="4425696"/>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R03</a:t>
            </a:r>
            <a:endParaRPr lang="en-US" sz="800" dirty="0"/>
          </a:p>
        </p:txBody>
      </p:sp>
      <p:sp>
        <p:nvSpPr>
          <p:cNvPr id="55" name="Text 53"/>
          <p:cNvSpPr/>
          <p:nvPr/>
        </p:nvSpPr>
        <p:spPr>
          <a:xfrm>
            <a:off x="804672" y="4425696"/>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CSS 3 methods</a:t>
            </a:r>
            <a:endParaRPr lang="en-US" sz="900" dirty="0"/>
          </a:p>
        </p:txBody>
      </p:sp>
      <p:sp>
        <p:nvSpPr>
          <p:cNvPr id="56" name="Shape 54"/>
          <p:cNvSpPr/>
          <p:nvPr/>
        </p:nvSpPr>
        <p:spPr>
          <a:xfrm>
            <a:off x="3246120" y="4425696"/>
            <a:ext cx="384048" cy="201168"/>
          </a:xfrm>
          <a:prstGeom prst="roundRect">
            <a:avLst>
              <a:gd name="adj" fmla="val 36364"/>
            </a:avLst>
          </a:prstGeom>
          <a:solidFill>
            <a:srgbClr val="7C3AED"/>
          </a:solidFill>
          <a:ln w="6350">
            <a:solidFill>
              <a:srgbClr val="7C3AED"/>
            </a:solidFill>
            <a:prstDash val="solid"/>
          </a:ln>
        </p:spPr>
      </p:sp>
      <p:sp>
        <p:nvSpPr>
          <p:cNvPr id="57" name="Text 55"/>
          <p:cNvSpPr/>
          <p:nvPr/>
        </p:nvSpPr>
        <p:spPr>
          <a:xfrm>
            <a:off x="3246120" y="4425696"/>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R08</a:t>
            </a:r>
            <a:endParaRPr lang="en-US" sz="800" dirty="0"/>
          </a:p>
        </p:txBody>
      </p:sp>
      <p:sp>
        <p:nvSpPr>
          <p:cNvPr id="58" name="Text 56"/>
          <p:cNvSpPr/>
          <p:nvPr/>
        </p:nvSpPr>
        <p:spPr>
          <a:xfrm>
            <a:off x="3685032" y="4425696"/>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Comparisons</a:t>
            </a:r>
            <a:endParaRPr lang="en-US" sz="900" dirty="0"/>
          </a:p>
        </p:txBody>
      </p:sp>
      <p:sp>
        <p:nvSpPr>
          <p:cNvPr id="59" name="Shape 57"/>
          <p:cNvSpPr/>
          <p:nvPr/>
        </p:nvSpPr>
        <p:spPr>
          <a:xfrm>
            <a:off x="6126480" y="4425696"/>
            <a:ext cx="384048" cy="201168"/>
          </a:xfrm>
          <a:prstGeom prst="roundRect">
            <a:avLst>
              <a:gd name="adj" fmla="val 36364"/>
            </a:avLst>
          </a:prstGeom>
          <a:solidFill>
            <a:srgbClr val="7C3AED"/>
          </a:solidFill>
          <a:ln w="6350">
            <a:solidFill>
              <a:srgbClr val="7C3AED"/>
            </a:solidFill>
            <a:prstDash val="solid"/>
          </a:ln>
        </p:spPr>
      </p:sp>
      <p:sp>
        <p:nvSpPr>
          <p:cNvPr id="60" name="Text 58"/>
          <p:cNvSpPr/>
          <p:nvPr/>
        </p:nvSpPr>
        <p:spPr>
          <a:xfrm>
            <a:off x="6126480" y="4425696"/>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R13</a:t>
            </a:r>
            <a:endParaRPr lang="en-US" sz="800" dirty="0"/>
          </a:p>
        </p:txBody>
      </p:sp>
      <p:sp>
        <p:nvSpPr>
          <p:cNvPr id="61" name="Text 59"/>
          <p:cNvSpPr/>
          <p:nvPr/>
        </p:nvSpPr>
        <p:spPr>
          <a:xfrm>
            <a:off x="6565392" y="4425696"/>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Callbacks</a:t>
            </a:r>
            <a:endParaRPr lang="en-US" sz="900" dirty="0"/>
          </a:p>
        </p:txBody>
      </p:sp>
      <p:sp>
        <p:nvSpPr>
          <p:cNvPr id="62" name="Shape 60"/>
          <p:cNvSpPr/>
          <p:nvPr/>
        </p:nvSpPr>
        <p:spPr>
          <a:xfrm>
            <a:off x="365760" y="4727448"/>
            <a:ext cx="384048" cy="201168"/>
          </a:xfrm>
          <a:prstGeom prst="roundRect">
            <a:avLst>
              <a:gd name="adj" fmla="val 36364"/>
            </a:avLst>
          </a:prstGeom>
          <a:solidFill>
            <a:srgbClr val="7C3AED"/>
          </a:solidFill>
          <a:ln w="6350">
            <a:solidFill>
              <a:srgbClr val="7C3AED"/>
            </a:solidFill>
            <a:prstDash val="solid"/>
          </a:ln>
        </p:spPr>
      </p:sp>
      <p:sp>
        <p:nvSpPr>
          <p:cNvPr id="63" name="Text 61"/>
          <p:cNvSpPr/>
          <p:nvPr/>
        </p:nvSpPr>
        <p:spPr>
          <a:xfrm>
            <a:off x="365760" y="4727448"/>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R05</a:t>
            </a:r>
            <a:endParaRPr lang="en-US" sz="800" dirty="0"/>
          </a:p>
        </p:txBody>
      </p:sp>
      <p:sp>
        <p:nvSpPr>
          <p:cNvPr id="64" name="Text 62"/>
          <p:cNvSpPr/>
          <p:nvPr/>
        </p:nvSpPr>
        <p:spPr>
          <a:xfrm>
            <a:off x="804672" y="4727448"/>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JS 3 methods</a:t>
            </a:r>
            <a:endParaRPr lang="en-US" sz="900" dirty="0"/>
          </a:p>
        </p:txBody>
      </p:sp>
      <p:sp>
        <p:nvSpPr>
          <p:cNvPr id="65" name="Shape 63"/>
          <p:cNvSpPr/>
          <p:nvPr/>
        </p:nvSpPr>
        <p:spPr>
          <a:xfrm>
            <a:off x="3246120" y="4727448"/>
            <a:ext cx="384048" cy="201168"/>
          </a:xfrm>
          <a:prstGeom prst="roundRect">
            <a:avLst>
              <a:gd name="adj" fmla="val 36364"/>
            </a:avLst>
          </a:prstGeom>
          <a:solidFill>
            <a:srgbClr val="7C3AED"/>
          </a:solidFill>
          <a:ln w="6350">
            <a:solidFill>
              <a:srgbClr val="7C3AED"/>
            </a:solidFill>
            <a:prstDash val="solid"/>
          </a:ln>
        </p:spPr>
      </p:sp>
      <p:sp>
        <p:nvSpPr>
          <p:cNvPr id="66" name="Text 64"/>
          <p:cNvSpPr/>
          <p:nvPr/>
        </p:nvSpPr>
        <p:spPr>
          <a:xfrm>
            <a:off x="3246120" y="4727448"/>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R09</a:t>
            </a:r>
            <a:endParaRPr lang="en-US" sz="800" dirty="0"/>
          </a:p>
        </p:txBody>
      </p:sp>
      <p:sp>
        <p:nvSpPr>
          <p:cNvPr id="67" name="Text 65"/>
          <p:cNvSpPr/>
          <p:nvPr/>
        </p:nvSpPr>
        <p:spPr>
          <a:xfrm>
            <a:off x="3685032" y="4727448"/>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Loops &amp; iterators</a:t>
            </a:r>
            <a:endParaRPr lang="en-US" sz="900" dirty="0"/>
          </a:p>
        </p:txBody>
      </p:sp>
      <p:sp>
        <p:nvSpPr>
          <p:cNvPr id="68" name="Shape 66"/>
          <p:cNvSpPr/>
          <p:nvPr/>
        </p:nvSpPr>
        <p:spPr>
          <a:xfrm>
            <a:off x="6126480" y="4727448"/>
            <a:ext cx="384048" cy="201168"/>
          </a:xfrm>
          <a:prstGeom prst="roundRect">
            <a:avLst>
              <a:gd name="adj" fmla="val 36364"/>
            </a:avLst>
          </a:prstGeom>
          <a:solidFill>
            <a:srgbClr val="7C3AED"/>
          </a:solidFill>
          <a:ln w="6350">
            <a:solidFill>
              <a:srgbClr val="7C3AED"/>
            </a:solidFill>
            <a:prstDash val="solid"/>
          </a:ln>
        </p:spPr>
      </p:sp>
      <p:sp>
        <p:nvSpPr>
          <p:cNvPr id="69" name="Text 67"/>
          <p:cNvSpPr/>
          <p:nvPr/>
        </p:nvSpPr>
        <p:spPr>
          <a:xfrm>
            <a:off x="6126480" y="4727448"/>
            <a:ext cx="384048" cy="201168"/>
          </a:xfrm>
          <a:prstGeom prst="rect">
            <a:avLst/>
          </a:prstGeom>
          <a:noFill/>
          <a:ln/>
        </p:spPr>
        <p:txBody>
          <a:bodyPr wrap="square" lIns="0" tIns="0" rIns="0" bIns="0" rtlCol="0" anchor="ctr"/>
          <a:lstStyle/>
          <a:p>
            <a:pPr algn="ctr" indent="0" marL="0">
              <a:buNone/>
            </a:pPr>
            <a:r>
              <a:rPr lang="en-US" sz="800" b="1" dirty="0">
                <a:solidFill>
                  <a:srgbClr val="F1F5F9"/>
                </a:solidFill>
                <a:latin typeface="Calibri" pitchFamily="34" charset="0"/>
                <a:ea typeface="Calibri" pitchFamily="34" charset="-122"/>
                <a:cs typeface="Calibri" pitchFamily="34" charset="-120"/>
              </a:rPr>
              <a:t>R15</a:t>
            </a:r>
            <a:endParaRPr lang="en-US" sz="800" dirty="0"/>
          </a:p>
        </p:txBody>
      </p:sp>
      <p:sp>
        <p:nvSpPr>
          <p:cNvPr id="70" name="Text 68"/>
          <p:cNvSpPr/>
          <p:nvPr/>
        </p:nvSpPr>
        <p:spPr>
          <a:xfrm>
            <a:off x="6565392" y="4727448"/>
            <a:ext cx="1828800" cy="201168"/>
          </a:xfrm>
          <a:prstGeom prst="rect">
            <a:avLst/>
          </a:prstGeom>
          <a:noFill/>
          <a:ln/>
        </p:spPr>
        <p:txBody>
          <a:bodyPr wrap="square" lIns="0" tIns="0" rIns="0" bIns="0" rtlCol="0" anchor="ctr"/>
          <a:lstStyle/>
          <a:p>
            <a:pPr algn="l" indent="0" marL="0">
              <a:buNone/>
            </a:pPr>
            <a:r>
              <a:rPr lang="en-US" sz="900" dirty="0">
                <a:solidFill>
                  <a:srgbClr val="F1F5F9"/>
                </a:solidFill>
                <a:latin typeface="Calibri" pitchFamily="34" charset="0"/>
                <a:ea typeface="Calibri" pitchFamily="34" charset="-122"/>
                <a:cs typeface="Calibri" pitchFamily="34" charset="-120"/>
              </a:rPr>
              <a:t>Local Storage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400800" y="2743200"/>
            <a:ext cx="2743200" cy="2743200"/>
          </a:xfrm>
          <a:prstGeom prst="ellipse">
            <a:avLst/>
          </a:prstGeom>
          <a:solidFill>
            <a:srgbClr val="D97706">
              <a:alpha val="15000"/>
            </a:srgbClr>
          </a:solidFill>
          <a:ln w="12700">
            <a:solidFill>
              <a:srgbClr val="D97706"/>
            </a:solidFill>
            <a:prstDash val="solid"/>
          </a:ln>
        </p:spPr>
      </p:sp>
      <p:sp>
        <p:nvSpPr>
          <p:cNvPr id="3" name="Text 1"/>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800" b="1" dirty="0">
                <a:solidFill>
                  <a:srgbClr val="F1F5F9"/>
                </a:solidFill>
                <a:latin typeface="Calibri" pitchFamily="34" charset="0"/>
                <a:ea typeface="Calibri" pitchFamily="34" charset="-122"/>
                <a:cs typeface="Calibri" pitchFamily="34" charset="-120"/>
              </a:rPr>
              <a:t>A technical challenge I solved</a:t>
            </a:r>
            <a:endParaRPr lang="en-US" sz="2800" dirty="0"/>
          </a:p>
        </p:txBody>
      </p:sp>
      <p:sp>
        <p:nvSpPr>
          <p:cNvPr id="4" name="Shape 2"/>
          <p:cNvSpPr/>
          <p:nvPr/>
        </p:nvSpPr>
        <p:spPr>
          <a:xfrm>
            <a:off x="365760" y="1188720"/>
            <a:ext cx="8412480" cy="1234440"/>
          </a:xfrm>
          <a:prstGeom prst="roundRect">
            <a:avLst>
              <a:gd name="adj" fmla="val 7407"/>
            </a:avLst>
          </a:prstGeom>
          <a:solidFill>
            <a:srgbClr val="131C2E"/>
          </a:solidFill>
          <a:ln w="6350">
            <a:solidFill>
              <a:srgbClr val="BE123C"/>
            </a:solidFill>
            <a:prstDash val="solid"/>
          </a:ln>
        </p:spPr>
      </p:sp>
      <p:sp>
        <p:nvSpPr>
          <p:cNvPr id="5" name="Text 3"/>
          <p:cNvSpPr/>
          <p:nvPr/>
        </p:nvSpPr>
        <p:spPr>
          <a:xfrm>
            <a:off x="502920" y="1234440"/>
            <a:ext cx="8229600" cy="274320"/>
          </a:xfrm>
          <a:prstGeom prst="rect">
            <a:avLst/>
          </a:prstGeom>
          <a:noFill/>
          <a:ln/>
        </p:spPr>
        <p:txBody>
          <a:bodyPr wrap="square" lIns="0" tIns="0" rIns="0" bIns="0" rtlCol="0" anchor="ctr"/>
          <a:lstStyle/>
          <a:p>
            <a:pPr algn="l" indent="0" marL="0">
              <a:buNone/>
            </a:pPr>
            <a:r>
              <a:rPr lang="en-US" sz="1200" b="1" dirty="0">
                <a:solidFill>
                  <a:srgbClr val="FDA4AF"/>
                </a:solidFill>
                <a:latin typeface="Calibri" pitchFamily="34" charset="0"/>
                <a:ea typeface="Calibri" pitchFamily="34" charset="-122"/>
                <a:cs typeface="Calibri" pitchFamily="34" charset="-120"/>
              </a:rPr>
              <a:t>❌  The challenge</a:t>
            </a:r>
            <a:endParaRPr lang="en-US" sz="1200" dirty="0"/>
          </a:p>
        </p:txBody>
      </p:sp>
      <p:sp>
        <p:nvSpPr>
          <p:cNvPr id="6" name="Text 4"/>
          <p:cNvSpPr/>
          <p:nvPr/>
        </p:nvSpPr>
        <p:spPr>
          <a:xfrm>
            <a:off x="502920" y="1508760"/>
            <a:ext cx="8046720" cy="402336"/>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The Canvas wellness ring was redrawing every time any data changed, but the arc calculation was wrong — the ring would sometimes draw past 100% and overlap itself, creating visual glitches.</a:t>
            </a:r>
            <a:endParaRPr lang="en-US" sz="1050" dirty="0"/>
          </a:p>
        </p:txBody>
      </p:sp>
      <p:sp>
        <p:nvSpPr>
          <p:cNvPr id="7" name="Shape 5"/>
          <p:cNvSpPr/>
          <p:nvPr/>
        </p:nvSpPr>
        <p:spPr>
          <a:xfrm>
            <a:off x="365760" y="2542032"/>
            <a:ext cx="8412480" cy="1234440"/>
          </a:xfrm>
          <a:prstGeom prst="roundRect">
            <a:avLst>
              <a:gd name="adj" fmla="val 7407"/>
            </a:avLst>
          </a:prstGeom>
          <a:solidFill>
            <a:srgbClr val="131C2E"/>
          </a:solidFill>
          <a:ln w="6350">
            <a:solidFill>
              <a:srgbClr val="6EE7B7"/>
            </a:solidFill>
            <a:prstDash val="solid"/>
          </a:ln>
        </p:spPr>
      </p:sp>
      <p:sp>
        <p:nvSpPr>
          <p:cNvPr id="8" name="Text 6"/>
          <p:cNvSpPr/>
          <p:nvPr/>
        </p:nvSpPr>
        <p:spPr>
          <a:xfrm>
            <a:off x="502920" y="2587752"/>
            <a:ext cx="8229600" cy="274320"/>
          </a:xfrm>
          <a:prstGeom prst="rect">
            <a:avLst/>
          </a:prstGeom>
          <a:noFill/>
          <a:ln/>
        </p:spPr>
        <p:txBody>
          <a:bodyPr wrap="square" lIns="0" tIns="0" rIns="0" bIns="0" rtlCol="0" anchor="ctr"/>
          <a:lstStyle/>
          <a:p>
            <a:pPr algn="l" indent="0" marL="0">
              <a:buNone/>
            </a:pPr>
            <a:r>
              <a:rPr lang="en-US" sz="1200" b="1" dirty="0">
                <a:solidFill>
                  <a:srgbClr val="6EE7B7"/>
                </a:solidFill>
                <a:latin typeface="Calibri" pitchFamily="34" charset="0"/>
                <a:ea typeface="Calibri" pitchFamily="34" charset="-122"/>
                <a:cs typeface="Calibri" pitchFamily="34" charset="-120"/>
              </a:rPr>
              <a:t>✓  The solution</a:t>
            </a:r>
            <a:endParaRPr lang="en-US" sz="1200" dirty="0"/>
          </a:p>
        </p:txBody>
      </p:sp>
      <p:sp>
        <p:nvSpPr>
          <p:cNvPr id="9" name="Text 7"/>
          <p:cNvSpPr/>
          <p:nvPr/>
        </p:nvSpPr>
        <p:spPr>
          <a:xfrm>
            <a:off x="502920" y="2862072"/>
            <a:ext cx="8046720" cy="402336"/>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I added Math.min(score, 100) to cap the score before calculation, and called ctx.clearRect(0, 0, canvas.width, canvas.height) at the start of every draw call to wipe the previous frame before drawing the new one.</a:t>
            </a:r>
            <a:endParaRPr lang="en-US" sz="1050" dirty="0"/>
          </a:p>
        </p:txBody>
      </p:sp>
      <p:sp>
        <p:nvSpPr>
          <p:cNvPr id="10" name="Shape 8"/>
          <p:cNvSpPr/>
          <p:nvPr/>
        </p:nvSpPr>
        <p:spPr>
          <a:xfrm>
            <a:off x="365760" y="3895344"/>
            <a:ext cx="8412480" cy="658368"/>
          </a:xfrm>
          <a:prstGeom prst="roundRect">
            <a:avLst>
              <a:gd name="adj" fmla="val 13889"/>
            </a:avLst>
          </a:prstGeom>
          <a:solidFill>
            <a:srgbClr val="131C2E"/>
          </a:solidFill>
          <a:ln w="6350">
            <a:solidFill>
              <a:srgbClr val="C4B5FD"/>
            </a:solidFill>
            <a:prstDash val="solid"/>
          </a:ln>
        </p:spPr>
      </p:sp>
      <p:sp>
        <p:nvSpPr>
          <p:cNvPr id="11" name="Text 9"/>
          <p:cNvSpPr/>
          <p:nvPr/>
        </p:nvSpPr>
        <p:spPr>
          <a:xfrm>
            <a:off x="502920" y="3941064"/>
            <a:ext cx="1828800" cy="274320"/>
          </a:xfrm>
          <a:prstGeom prst="rect">
            <a:avLst/>
          </a:prstGeom>
          <a:noFill/>
          <a:ln/>
        </p:spPr>
        <p:txBody>
          <a:bodyPr wrap="square" lIns="0" tIns="0" rIns="0" bIns="0" rtlCol="0" anchor="ctr"/>
          <a:lstStyle/>
          <a:p>
            <a:pPr algn="l" indent="0" marL="0">
              <a:buNone/>
            </a:pPr>
            <a:r>
              <a:rPr lang="en-US" sz="1200" b="1" dirty="0">
                <a:solidFill>
                  <a:srgbClr val="C4B5FD"/>
                </a:solidFill>
                <a:latin typeface="Calibri" pitchFamily="34" charset="0"/>
                <a:ea typeface="Calibri" pitchFamily="34" charset="-122"/>
                <a:cs typeface="Calibri" pitchFamily="34" charset="-120"/>
              </a:rPr>
              <a:t>💡  What I learned</a:t>
            </a:r>
            <a:endParaRPr lang="en-US" sz="1200" dirty="0"/>
          </a:p>
        </p:txBody>
      </p:sp>
      <p:sp>
        <p:nvSpPr>
          <p:cNvPr id="12" name="Text 10"/>
          <p:cNvSpPr/>
          <p:nvPr/>
        </p:nvSpPr>
        <p:spPr>
          <a:xfrm>
            <a:off x="502920" y="4187952"/>
            <a:ext cx="8046720" cy="310896"/>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Canvas is stateful — it remembers everything drawn on it. You must clear it before every redraw or previous frames stack up. This is different from DOM manipulation where replacing innerHTML automatically removes old content.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57200" y="3200400"/>
            <a:ext cx="2286000" cy="2286000"/>
          </a:xfrm>
          <a:prstGeom prst="ellipse">
            <a:avLst/>
          </a:prstGeom>
          <a:solidFill>
            <a:srgbClr val="7C3AED">
              <a:alpha val="18000"/>
            </a:srgbClr>
          </a:solidFill>
          <a:ln w="12700">
            <a:solidFill>
              <a:srgbClr val="7C3AED"/>
            </a:solidFill>
            <a:prstDash val="solid"/>
          </a:ln>
        </p:spPr>
      </p:sp>
      <p:sp>
        <p:nvSpPr>
          <p:cNvPr id="3" name="Text 1"/>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800" b="1" dirty="0">
                <a:solidFill>
                  <a:srgbClr val="F1F5F9"/>
                </a:solidFill>
                <a:latin typeface="Calibri" pitchFamily="34" charset="0"/>
                <a:ea typeface="Calibri" pitchFamily="34" charset="-122"/>
                <a:cs typeface="Calibri" pitchFamily="34" charset="-120"/>
              </a:rPr>
              <a:t>JavaScript concepts that became clear</a:t>
            </a:r>
            <a:endParaRPr lang="en-US" sz="2800" dirty="0"/>
          </a:p>
        </p:txBody>
      </p:sp>
      <p:sp>
        <p:nvSpPr>
          <p:cNvPr id="4" name="Shape 2"/>
          <p:cNvSpPr/>
          <p:nvPr/>
        </p:nvSpPr>
        <p:spPr>
          <a:xfrm>
            <a:off x="365760" y="1170432"/>
            <a:ext cx="4114800" cy="1600200"/>
          </a:xfrm>
          <a:prstGeom prst="roundRect">
            <a:avLst>
              <a:gd name="adj" fmla="val 6857"/>
            </a:avLst>
          </a:prstGeom>
          <a:solidFill>
            <a:srgbClr val="131C2E"/>
          </a:solidFill>
          <a:ln w="6350">
            <a:solidFill>
              <a:srgbClr val="1E3A5F"/>
            </a:solidFill>
            <a:prstDash val="solid"/>
          </a:ln>
        </p:spPr>
      </p:sp>
      <p:sp>
        <p:nvSpPr>
          <p:cNvPr id="5" name="Shape 3"/>
          <p:cNvSpPr/>
          <p:nvPr/>
        </p:nvSpPr>
        <p:spPr>
          <a:xfrm>
            <a:off x="530352" y="1335024"/>
            <a:ext cx="457200" cy="457200"/>
          </a:xfrm>
          <a:prstGeom prst="ellipse">
            <a:avLst/>
          </a:prstGeom>
          <a:solidFill>
            <a:srgbClr val="C4B5FD">
              <a:alpha val="40000"/>
            </a:srgbClr>
          </a:solidFill>
          <a:ln w="6350">
            <a:solidFill>
              <a:srgbClr val="C4B5FD"/>
            </a:solidFill>
            <a:prstDash val="solid"/>
          </a:ln>
        </p:spPr>
      </p:sp>
      <p:sp>
        <p:nvSpPr>
          <p:cNvPr id="6" name="Text 4"/>
          <p:cNvSpPr/>
          <p:nvPr/>
        </p:nvSpPr>
        <p:spPr>
          <a:xfrm>
            <a:off x="530352" y="1335024"/>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097280" y="1353312"/>
            <a:ext cx="3200400" cy="274320"/>
          </a:xfrm>
          <a:prstGeom prst="rect">
            <a:avLst/>
          </a:prstGeom>
          <a:noFill/>
          <a:ln/>
        </p:spPr>
        <p:txBody>
          <a:bodyPr wrap="square" lIns="0" tIns="0" rIns="0" bIns="0" rtlCol="0" anchor="ctr"/>
          <a:lstStyle/>
          <a:p>
            <a:pPr algn="l" indent="0" marL="0">
              <a:buNone/>
            </a:pPr>
            <a:r>
              <a:rPr lang="en-US" sz="1300" b="1" dirty="0">
                <a:solidFill>
                  <a:srgbClr val="C4B5FD"/>
                </a:solidFill>
                <a:latin typeface="Calibri" pitchFamily="34" charset="0"/>
                <a:ea typeface="Calibri" pitchFamily="34" charset="-122"/>
                <a:cs typeface="Calibri" pitchFamily="34" charset="-120"/>
              </a:rPr>
              <a:t>Variable scope</a:t>
            </a:r>
            <a:endParaRPr lang="en-US" sz="1300" dirty="0"/>
          </a:p>
        </p:txBody>
      </p:sp>
      <p:sp>
        <p:nvSpPr>
          <p:cNvPr id="8" name="Text 6"/>
          <p:cNvSpPr/>
          <p:nvPr/>
        </p:nvSpPr>
        <p:spPr>
          <a:xfrm>
            <a:off x="530352" y="1828800"/>
            <a:ext cx="3785616" cy="822960"/>
          </a:xfrm>
          <a:prstGeom prst="rect">
            <a:avLst/>
          </a:prstGeom>
          <a:noFill/>
          <a:ln/>
        </p:spPr>
        <p:txBody>
          <a:bodyPr wrap="square" lIns="0" tIns="0" rIns="0" bIns="0" rtlCol="0" anchor="t"/>
          <a:lstStyle/>
          <a:p>
            <a:pPr algn="l" indent="0" marL="0">
              <a:buNone/>
            </a:pPr>
            <a:r>
              <a:rPr lang="en-US" sz="950" dirty="0">
                <a:solidFill>
                  <a:srgbClr val="94A3B8"/>
                </a:solidFill>
                <a:latin typeface="Calibri" pitchFamily="34" charset="0"/>
                <a:ea typeface="Calibri" pitchFamily="34" charset="-122"/>
                <a:cs typeface="Calibri" pitchFamily="34" charset="-120"/>
              </a:rPr>
              <a:t>const vs let vs var became real when I had to decide which to use for STORAGE_KEY (never changes) vs currentStep (changes every click).</a:t>
            </a:r>
            <a:endParaRPr lang="en-US" sz="950" dirty="0"/>
          </a:p>
        </p:txBody>
      </p:sp>
      <p:sp>
        <p:nvSpPr>
          <p:cNvPr id="9" name="Shape 7"/>
          <p:cNvSpPr/>
          <p:nvPr/>
        </p:nvSpPr>
        <p:spPr>
          <a:xfrm>
            <a:off x="4663440" y="1170432"/>
            <a:ext cx="4114800" cy="1600200"/>
          </a:xfrm>
          <a:prstGeom prst="roundRect">
            <a:avLst>
              <a:gd name="adj" fmla="val 6857"/>
            </a:avLst>
          </a:prstGeom>
          <a:solidFill>
            <a:srgbClr val="131C2E"/>
          </a:solidFill>
          <a:ln w="6350">
            <a:solidFill>
              <a:srgbClr val="1E3A5F"/>
            </a:solidFill>
            <a:prstDash val="solid"/>
          </a:ln>
        </p:spPr>
      </p:sp>
      <p:sp>
        <p:nvSpPr>
          <p:cNvPr id="10" name="Shape 8"/>
          <p:cNvSpPr/>
          <p:nvPr/>
        </p:nvSpPr>
        <p:spPr>
          <a:xfrm>
            <a:off x="4828032" y="1335024"/>
            <a:ext cx="457200" cy="457200"/>
          </a:xfrm>
          <a:prstGeom prst="ellipse">
            <a:avLst/>
          </a:prstGeom>
          <a:solidFill>
            <a:srgbClr val="6EE7B7">
              <a:alpha val="40000"/>
            </a:srgbClr>
          </a:solidFill>
          <a:ln w="6350">
            <a:solidFill>
              <a:srgbClr val="6EE7B7"/>
            </a:solidFill>
            <a:prstDash val="solid"/>
          </a:ln>
        </p:spPr>
      </p:sp>
      <p:sp>
        <p:nvSpPr>
          <p:cNvPr id="11" name="Text 9"/>
          <p:cNvSpPr/>
          <p:nvPr/>
        </p:nvSpPr>
        <p:spPr>
          <a:xfrm>
            <a:off x="4828032" y="1335024"/>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5394960" y="1353312"/>
            <a:ext cx="3200400" cy="274320"/>
          </a:xfrm>
          <a:prstGeom prst="rect">
            <a:avLst/>
          </a:prstGeom>
          <a:noFill/>
          <a:ln/>
        </p:spPr>
        <p:txBody>
          <a:bodyPr wrap="square" lIns="0" tIns="0" rIns="0" bIns="0" rtlCol="0" anchor="ctr"/>
          <a:lstStyle/>
          <a:p>
            <a:pPr algn="l" indent="0" marL="0">
              <a:buNone/>
            </a:pPr>
            <a:r>
              <a:rPr lang="en-US" sz="1300" b="1" dirty="0">
                <a:solidFill>
                  <a:srgbClr val="6EE7B7"/>
                </a:solidFill>
                <a:latin typeface="Calibri" pitchFamily="34" charset="0"/>
                <a:ea typeface="Calibri" pitchFamily="34" charset="-122"/>
                <a:cs typeface="Calibri" pitchFamily="34" charset="-120"/>
              </a:rPr>
              <a:t>Async / await</a:t>
            </a:r>
            <a:endParaRPr lang="en-US" sz="1300" dirty="0"/>
          </a:p>
        </p:txBody>
      </p:sp>
      <p:sp>
        <p:nvSpPr>
          <p:cNvPr id="13" name="Text 11"/>
          <p:cNvSpPr/>
          <p:nvPr/>
        </p:nvSpPr>
        <p:spPr>
          <a:xfrm>
            <a:off x="4828032" y="1828800"/>
            <a:ext cx="3785616" cy="822960"/>
          </a:xfrm>
          <a:prstGeom prst="rect">
            <a:avLst/>
          </a:prstGeom>
          <a:noFill/>
          <a:ln/>
        </p:spPr>
        <p:txBody>
          <a:bodyPr wrap="square" lIns="0" tIns="0" rIns="0" bIns="0" rtlCol="0" anchor="t"/>
          <a:lstStyle/>
          <a:p>
            <a:pPr algn="l" indent="0" marL="0">
              <a:buNone/>
            </a:pPr>
            <a:r>
              <a:rPr lang="en-US" sz="950" dirty="0">
                <a:solidFill>
                  <a:srgbClr val="94A3B8"/>
                </a:solidFill>
                <a:latin typeface="Calibri" pitchFamily="34" charset="0"/>
                <a:ea typeface="Calibri" pitchFamily="34" charset="-122"/>
                <a:cs typeface="Calibri" pitchFamily="34" charset="-120"/>
              </a:rPr>
              <a:t>Non-blocking code made sense when I saw the typing indicator appear while the AI was thinking — await pauses one function without freezing the whole page.</a:t>
            </a:r>
            <a:endParaRPr lang="en-US" sz="950" dirty="0"/>
          </a:p>
        </p:txBody>
      </p:sp>
      <p:sp>
        <p:nvSpPr>
          <p:cNvPr id="14" name="Shape 12"/>
          <p:cNvSpPr/>
          <p:nvPr/>
        </p:nvSpPr>
        <p:spPr>
          <a:xfrm>
            <a:off x="365760" y="2944368"/>
            <a:ext cx="4114800" cy="1600200"/>
          </a:xfrm>
          <a:prstGeom prst="roundRect">
            <a:avLst>
              <a:gd name="adj" fmla="val 6857"/>
            </a:avLst>
          </a:prstGeom>
          <a:solidFill>
            <a:srgbClr val="131C2E"/>
          </a:solidFill>
          <a:ln w="6350">
            <a:solidFill>
              <a:srgbClr val="1E3A5F"/>
            </a:solidFill>
            <a:prstDash val="solid"/>
          </a:ln>
        </p:spPr>
      </p:sp>
      <p:sp>
        <p:nvSpPr>
          <p:cNvPr id="15" name="Shape 13"/>
          <p:cNvSpPr/>
          <p:nvPr/>
        </p:nvSpPr>
        <p:spPr>
          <a:xfrm>
            <a:off x="530352" y="3108960"/>
            <a:ext cx="457200" cy="457200"/>
          </a:xfrm>
          <a:prstGeom prst="ellipse">
            <a:avLst/>
          </a:prstGeom>
          <a:solidFill>
            <a:srgbClr val="FCD34D">
              <a:alpha val="40000"/>
            </a:srgbClr>
          </a:solidFill>
          <a:ln w="6350">
            <a:solidFill>
              <a:srgbClr val="FCD34D"/>
            </a:solidFill>
            <a:prstDash val="solid"/>
          </a:ln>
        </p:spPr>
      </p:sp>
      <p:sp>
        <p:nvSpPr>
          <p:cNvPr id="16" name="Text 14"/>
          <p:cNvSpPr/>
          <p:nvPr/>
        </p:nvSpPr>
        <p:spPr>
          <a:xfrm>
            <a:off x="530352" y="3108960"/>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097280" y="3127248"/>
            <a:ext cx="3200400" cy="274320"/>
          </a:xfrm>
          <a:prstGeom prst="rect">
            <a:avLst/>
          </a:prstGeom>
          <a:noFill/>
          <a:ln/>
        </p:spPr>
        <p:txBody>
          <a:bodyPr wrap="square" lIns="0" tIns="0" rIns="0" bIns="0" rtlCol="0" anchor="ctr"/>
          <a:lstStyle/>
          <a:p>
            <a:pPr algn="l" indent="0" marL="0">
              <a:buNone/>
            </a:pPr>
            <a:r>
              <a:rPr lang="en-US" sz="1300" b="1" dirty="0">
                <a:solidFill>
                  <a:srgbClr val="FCD34D"/>
                </a:solidFill>
                <a:latin typeface="Calibri" pitchFamily="34" charset="0"/>
                <a:ea typeface="Calibri" pitchFamily="34" charset="-122"/>
                <a:cs typeface="Calibri" pitchFamily="34" charset="-120"/>
              </a:rPr>
              <a:t>Data serialisation</a:t>
            </a:r>
            <a:endParaRPr lang="en-US" sz="1300" dirty="0"/>
          </a:p>
        </p:txBody>
      </p:sp>
      <p:sp>
        <p:nvSpPr>
          <p:cNvPr id="18" name="Text 16"/>
          <p:cNvSpPr/>
          <p:nvPr/>
        </p:nvSpPr>
        <p:spPr>
          <a:xfrm>
            <a:off x="530352" y="3602736"/>
            <a:ext cx="3785616" cy="822960"/>
          </a:xfrm>
          <a:prstGeom prst="rect">
            <a:avLst/>
          </a:prstGeom>
          <a:noFill/>
          <a:ln/>
        </p:spPr>
        <p:txBody>
          <a:bodyPr wrap="square" lIns="0" tIns="0" rIns="0" bIns="0" rtlCol="0" anchor="t"/>
          <a:lstStyle/>
          <a:p>
            <a:pPr algn="l" indent="0" marL="0">
              <a:buNone/>
            </a:pPr>
            <a:r>
              <a:rPr lang="en-US" sz="950" dirty="0">
                <a:solidFill>
                  <a:srgbClr val="94A3B8"/>
                </a:solidFill>
                <a:latin typeface="Calibri" pitchFamily="34" charset="0"/>
                <a:ea typeface="Calibri" pitchFamily="34" charset="-122"/>
                <a:cs typeface="Calibri" pitchFamily="34" charset="-120"/>
              </a:rPr>
              <a:t>localStorage only stores strings — every object needs JSON.stringify to save and JSON.parse to load. This made me understand why databases exist.</a:t>
            </a:r>
            <a:endParaRPr lang="en-US" sz="950" dirty="0"/>
          </a:p>
        </p:txBody>
      </p:sp>
      <p:sp>
        <p:nvSpPr>
          <p:cNvPr id="19" name="Shape 17"/>
          <p:cNvSpPr/>
          <p:nvPr/>
        </p:nvSpPr>
        <p:spPr>
          <a:xfrm>
            <a:off x="4663440" y="2944368"/>
            <a:ext cx="4114800" cy="1600200"/>
          </a:xfrm>
          <a:prstGeom prst="roundRect">
            <a:avLst>
              <a:gd name="adj" fmla="val 6857"/>
            </a:avLst>
          </a:prstGeom>
          <a:solidFill>
            <a:srgbClr val="131C2E"/>
          </a:solidFill>
          <a:ln w="6350">
            <a:solidFill>
              <a:srgbClr val="1E3A5F"/>
            </a:solidFill>
            <a:prstDash val="solid"/>
          </a:ln>
        </p:spPr>
      </p:sp>
      <p:sp>
        <p:nvSpPr>
          <p:cNvPr id="20" name="Shape 18"/>
          <p:cNvSpPr/>
          <p:nvPr/>
        </p:nvSpPr>
        <p:spPr>
          <a:xfrm>
            <a:off x="4828032" y="3108960"/>
            <a:ext cx="457200" cy="457200"/>
          </a:xfrm>
          <a:prstGeom prst="ellipse">
            <a:avLst/>
          </a:prstGeom>
          <a:solidFill>
            <a:srgbClr val="FDA4AF">
              <a:alpha val="40000"/>
            </a:srgbClr>
          </a:solidFill>
          <a:ln w="6350">
            <a:solidFill>
              <a:srgbClr val="FDA4AF"/>
            </a:solidFill>
            <a:prstDash val="solid"/>
          </a:ln>
        </p:spPr>
      </p:sp>
      <p:sp>
        <p:nvSpPr>
          <p:cNvPr id="21" name="Text 19"/>
          <p:cNvSpPr/>
          <p:nvPr/>
        </p:nvSpPr>
        <p:spPr>
          <a:xfrm>
            <a:off x="4828032" y="3108960"/>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5394960" y="3127248"/>
            <a:ext cx="3200400" cy="274320"/>
          </a:xfrm>
          <a:prstGeom prst="rect">
            <a:avLst/>
          </a:prstGeom>
          <a:noFill/>
          <a:ln/>
        </p:spPr>
        <p:txBody>
          <a:bodyPr wrap="square" lIns="0" tIns="0" rIns="0" bIns="0" rtlCol="0" anchor="ctr"/>
          <a:lstStyle/>
          <a:p>
            <a:pPr algn="l" indent="0" marL="0">
              <a:buNone/>
            </a:pPr>
            <a:r>
              <a:rPr lang="en-US" sz="1300" b="1" dirty="0">
                <a:solidFill>
                  <a:srgbClr val="FDA4AF"/>
                </a:solidFill>
                <a:latin typeface="Calibri" pitchFamily="34" charset="0"/>
                <a:ea typeface="Calibri" pitchFamily="34" charset="-122"/>
                <a:cs typeface="Calibri" pitchFamily="34" charset="-120"/>
              </a:rPr>
              <a:t>Canvas coordinate system</a:t>
            </a:r>
            <a:endParaRPr lang="en-US" sz="1300" dirty="0"/>
          </a:p>
        </p:txBody>
      </p:sp>
      <p:sp>
        <p:nvSpPr>
          <p:cNvPr id="23" name="Text 21"/>
          <p:cNvSpPr/>
          <p:nvPr/>
        </p:nvSpPr>
        <p:spPr>
          <a:xfrm>
            <a:off x="4828032" y="3602736"/>
            <a:ext cx="3785616" cy="822960"/>
          </a:xfrm>
          <a:prstGeom prst="rect">
            <a:avLst/>
          </a:prstGeom>
          <a:noFill/>
          <a:ln/>
        </p:spPr>
        <p:txBody>
          <a:bodyPr wrap="square" lIns="0" tIns="0" rIns="0" bIns="0" rtlCol="0" anchor="t"/>
          <a:lstStyle/>
          <a:p>
            <a:pPr algn="l" indent="0" marL="0">
              <a:buNone/>
            </a:pPr>
            <a:r>
              <a:rPr lang="en-US" sz="950" dirty="0">
                <a:solidFill>
                  <a:srgbClr val="94A3B8"/>
                </a:solidFill>
                <a:latin typeface="Calibri" pitchFamily="34" charset="0"/>
                <a:ea typeface="Calibri" pitchFamily="34" charset="-122"/>
                <a:cs typeface="Calibri" pitchFamily="34" charset="-120"/>
              </a:rPr>
              <a:t>Drawing with code requires thinking in pixels and radians. My mechanical engineering background made the geometry intuitive — applying it in a browser was the new part.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7315200" y="914400"/>
            <a:ext cx="1828800" cy="1828800"/>
          </a:xfrm>
          <a:prstGeom prst="ellipse">
            <a:avLst/>
          </a:prstGeom>
          <a:solidFill>
            <a:srgbClr val="059669">
              <a:alpha val="15000"/>
            </a:srgbClr>
          </a:solidFill>
          <a:ln w="12700">
            <a:solidFill>
              <a:srgbClr val="059669"/>
            </a:solidFill>
            <a:prstDash val="solid"/>
          </a:ln>
        </p:spPr>
      </p:sp>
      <p:sp>
        <p:nvSpPr>
          <p:cNvPr id="3" name="Text 1"/>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800" b="1" dirty="0">
                <a:solidFill>
                  <a:srgbClr val="F1F5F9"/>
                </a:solidFill>
                <a:latin typeface="Calibri" pitchFamily="34" charset="0"/>
                <a:ea typeface="Calibri" pitchFamily="34" charset="-122"/>
                <a:cs typeface="Calibri" pitchFamily="34" charset="-120"/>
              </a:rPr>
              <a:t>What I would do differently</a:t>
            </a:r>
            <a:endParaRPr lang="en-US" sz="2800" dirty="0"/>
          </a:p>
        </p:txBody>
      </p:sp>
      <p:sp>
        <p:nvSpPr>
          <p:cNvPr id="4" name="Shape 2"/>
          <p:cNvSpPr/>
          <p:nvPr/>
        </p:nvSpPr>
        <p:spPr>
          <a:xfrm>
            <a:off x="365760" y="1188720"/>
            <a:ext cx="8412480" cy="713232"/>
          </a:xfrm>
          <a:prstGeom prst="roundRect">
            <a:avLst>
              <a:gd name="adj" fmla="val 12821"/>
            </a:avLst>
          </a:prstGeom>
          <a:solidFill>
            <a:srgbClr val="131C2E"/>
          </a:solidFill>
          <a:ln w="6350">
            <a:solidFill>
              <a:srgbClr val="1E3A5F"/>
            </a:solidFill>
            <a:prstDash val="solid"/>
          </a:ln>
        </p:spPr>
      </p:sp>
      <p:sp>
        <p:nvSpPr>
          <p:cNvPr id="5" name="Shape 3"/>
          <p:cNvSpPr/>
          <p:nvPr/>
        </p:nvSpPr>
        <p:spPr>
          <a:xfrm>
            <a:off x="502920" y="1316736"/>
            <a:ext cx="457200" cy="457200"/>
          </a:xfrm>
          <a:prstGeom prst="ellipse">
            <a:avLst/>
          </a:prstGeom>
          <a:solidFill>
            <a:srgbClr val="C4B5FD">
              <a:alpha val="40000"/>
            </a:srgbClr>
          </a:solidFill>
          <a:ln w="6350">
            <a:solidFill>
              <a:srgbClr val="C4B5FD"/>
            </a:solidFill>
            <a:prstDash val="solid"/>
          </a:ln>
        </p:spPr>
      </p:sp>
      <p:sp>
        <p:nvSpPr>
          <p:cNvPr id="6" name="Text 4"/>
          <p:cNvSpPr/>
          <p:nvPr/>
        </p:nvSpPr>
        <p:spPr>
          <a:xfrm>
            <a:off x="502920" y="1316736"/>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078992" y="1280160"/>
            <a:ext cx="2743200" cy="256032"/>
          </a:xfrm>
          <a:prstGeom prst="rect">
            <a:avLst/>
          </a:prstGeom>
          <a:noFill/>
          <a:ln/>
        </p:spPr>
        <p:txBody>
          <a:bodyPr wrap="square" lIns="0" tIns="0" rIns="0" bIns="0" rtlCol="0" anchor="ctr"/>
          <a:lstStyle/>
          <a:p>
            <a:pPr algn="l" indent="0" marL="0">
              <a:buNone/>
            </a:pPr>
            <a:r>
              <a:rPr lang="en-US" sz="1200" b="1" dirty="0">
                <a:solidFill>
                  <a:srgbClr val="C4B5FD"/>
                </a:solidFill>
                <a:latin typeface="Calibri" pitchFamily="34" charset="0"/>
                <a:ea typeface="Calibri" pitchFamily="34" charset="-122"/>
                <a:cs typeface="Calibri" pitchFamily="34" charset="-120"/>
              </a:rPr>
              <a:t>Modular JS from day 1</a:t>
            </a:r>
            <a:endParaRPr lang="en-US" sz="1200" dirty="0"/>
          </a:p>
        </p:txBody>
      </p:sp>
      <p:sp>
        <p:nvSpPr>
          <p:cNvPr id="8" name="Text 6"/>
          <p:cNvSpPr/>
          <p:nvPr/>
        </p:nvSpPr>
        <p:spPr>
          <a:xfrm>
            <a:off x="1078992" y="1554480"/>
            <a:ext cx="722376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script.js grew to 1,388 lines in a single file. I would split it into modules (canvas.js, storage.js, chat.js) from the beginning — much easier to maintain and debug.</a:t>
            </a:r>
            <a:endParaRPr lang="en-US" sz="1000" dirty="0"/>
          </a:p>
        </p:txBody>
      </p:sp>
      <p:sp>
        <p:nvSpPr>
          <p:cNvPr id="9" name="Shape 7"/>
          <p:cNvSpPr/>
          <p:nvPr/>
        </p:nvSpPr>
        <p:spPr>
          <a:xfrm>
            <a:off x="365760" y="2057400"/>
            <a:ext cx="8412480" cy="713232"/>
          </a:xfrm>
          <a:prstGeom prst="roundRect">
            <a:avLst>
              <a:gd name="adj" fmla="val 12821"/>
            </a:avLst>
          </a:prstGeom>
          <a:solidFill>
            <a:srgbClr val="131C2E"/>
          </a:solidFill>
          <a:ln w="6350">
            <a:solidFill>
              <a:srgbClr val="1E3A5F"/>
            </a:solidFill>
            <a:prstDash val="solid"/>
          </a:ln>
        </p:spPr>
      </p:sp>
      <p:sp>
        <p:nvSpPr>
          <p:cNvPr id="10" name="Shape 8"/>
          <p:cNvSpPr/>
          <p:nvPr/>
        </p:nvSpPr>
        <p:spPr>
          <a:xfrm>
            <a:off x="502920" y="2185416"/>
            <a:ext cx="457200" cy="457200"/>
          </a:xfrm>
          <a:prstGeom prst="ellipse">
            <a:avLst/>
          </a:prstGeom>
          <a:solidFill>
            <a:srgbClr val="FCD34D">
              <a:alpha val="40000"/>
            </a:srgbClr>
          </a:solidFill>
          <a:ln w="6350">
            <a:solidFill>
              <a:srgbClr val="FCD34D"/>
            </a:solidFill>
            <a:prstDash val="solid"/>
          </a:ln>
        </p:spPr>
      </p:sp>
      <p:sp>
        <p:nvSpPr>
          <p:cNvPr id="11" name="Text 9"/>
          <p:cNvSpPr/>
          <p:nvPr/>
        </p:nvSpPr>
        <p:spPr>
          <a:xfrm>
            <a:off x="502920" y="2185416"/>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078992" y="2148840"/>
            <a:ext cx="2743200" cy="256032"/>
          </a:xfrm>
          <a:prstGeom prst="rect">
            <a:avLst/>
          </a:prstGeom>
          <a:noFill/>
          <a:ln/>
        </p:spPr>
        <p:txBody>
          <a:bodyPr wrap="square" lIns="0" tIns="0" rIns="0" bIns="0" rtlCol="0" anchor="ctr"/>
          <a:lstStyle/>
          <a:p>
            <a:pPr algn="l" indent="0" marL="0">
              <a:buNone/>
            </a:pPr>
            <a:r>
              <a:rPr lang="en-US" sz="1200" b="1" dirty="0">
                <a:solidFill>
                  <a:srgbClr val="FCD34D"/>
                </a:solidFill>
                <a:latin typeface="Calibri" pitchFamily="34" charset="0"/>
                <a:ea typeface="Calibri" pitchFamily="34" charset="-122"/>
                <a:cs typeface="Calibri" pitchFamily="34" charset="-120"/>
              </a:rPr>
              <a:t>Form validation earlier</a:t>
            </a:r>
            <a:endParaRPr lang="en-US" sz="1200" dirty="0"/>
          </a:p>
        </p:txBody>
      </p:sp>
      <p:sp>
        <p:nvSpPr>
          <p:cNvPr id="13" name="Text 11"/>
          <p:cNvSpPr/>
          <p:nvPr/>
        </p:nvSpPr>
        <p:spPr>
          <a:xfrm>
            <a:off x="1078992" y="2423160"/>
            <a:ext cx="722376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I added input validation late in development and had to retrofit it everywhere. Starting with a validation helper function would have saved hours.</a:t>
            </a:r>
            <a:endParaRPr lang="en-US" sz="1000" dirty="0"/>
          </a:p>
        </p:txBody>
      </p:sp>
      <p:sp>
        <p:nvSpPr>
          <p:cNvPr id="14" name="Shape 12"/>
          <p:cNvSpPr/>
          <p:nvPr/>
        </p:nvSpPr>
        <p:spPr>
          <a:xfrm>
            <a:off x="365760" y="2926080"/>
            <a:ext cx="8412480" cy="713232"/>
          </a:xfrm>
          <a:prstGeom prst="roundRect">
            <a:avLst>
              <a:gd name="adj" fmla="val 12821"/>
            </a:avLst>
          </a:prstGeom>
          <a:solidFill>
            <a:srgbClr val="131C2E"/>
          </a:solidFill>
          <a:ln w="6350">
            <a:solidFill>
              <a:srgbClr val="1E3A5F"/>
            </a:solidFill>
            <a:prstDash val="solid"/>
          </a:ln>
        </p:spPr>
      </p:sp>
      <p:sp>
        <p:nvSpPr>
          <p:cNvPr id="15" name="Shape 13"/>
          <p:cNvSpPr/>
          <p:nvPr/>
        </p:nvSpPr>
        <p:spPr>
          <a:xfrm>
            <a:off x="502920" y="3054096"/>
            <a:ext cx="457200" cy="457200"/>
          </a:xfrm>
          <a:prstGeom prst="ellipse">
            <a:avLst/>
          </a:prstGeom>
          <a:solidFill>
            <a:srgbClr val="6EE7B7">
              <a:alpha val="40000"/>
            </a:srgbClr>
          </a:solidFill>
          <a:ln w="6350">
            <a:solidFill>
              <a:srgbClr val="6EE7B7"/>
            </a:solidFill>
            <a:prstDash val="solid"/>
          </a:ln>
        </p:spPr>
      </p:sp>
      <p:sp>
        <p:nvSpPr>
          <p:cNvPr id="16" name="Text 14"/>
          <p:cNvSpPr/>
          <p:nvPr/>
        </p:nvSpPr>
        <p:spPr>
          <a:xfrm>
            <a:off x="502920" y="3054096"/>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078992" y="3017520"/>
            <a:ext cx="2743200" cy="256032"/>
          </a:xfrm>
          <a:prstGeom prst="rect">
            <a:avLst/>
          </a:prstGeom>
          <a:noFill/>
          <a:ln/>
        </p:spPr>
        <p:txBody>
          <a:bodyPr wrap="square" lIns="0" tIns="0" rIns="0" bIns="0" rtlCol="0" anchor="ctr"/>
          <a:lstStyle/>
          <a:p>
            <a:pPr algn="l" indent="0" marL="0">
              <a:buNone/>
            </a:pPr>
            <a:r>
              <a:rPr lang="en-US" sz="1200" b="1" dirty="0">
                <a:solidFill>
                  <a:srgbClr val="6EE7B7"/>
                </a:solidFill>
                <a:latin typeface="Calibri" pitchFamily="34" charset="0"/>
                <a:ea typeface="Calibri" pitchFamily="34" charset="-122"/>
                <a:cs typeface="Calibri" pitchFamily="34" charset="-120"/>
              </a:rPr>
              <a:t>Accessibility from the start</a:t>
            </a:r>
            <a:endParaRPr lang="en-US" sz="1200" dirty="0"/>
          </a:p>
        </p:txBody>
      </p:sp>
      <p:sp>
        <p:nvSpPr>
          <p:cNvPr id="18" name="Text 16"/>
          <p:cNvSpPr/>
          <p:nvPr/>
        </p:nvSpPr>
        <p:spPr>
          <a:xfrm>
            <a:off x="1078992" y="3291840"/>
            <a:ext cx="722376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The dark theme looks great visually but I did not check colour contrast ratios or add ARIA labels until late. Accessibility should be designed in, not added at the end.</a:t>
            </a:r>
            <a:endParaRPr lang="en-US" sz="1000" dirty="0"/>
          </a:p>
        </p:txBody>
      </p:sp>
      <p:sp>
        <p:nvSpPr>
          <p:cNvPr id="19" name="Shape 17"/>
          <p:cNvSpPr/>
          <p:nvPr/>
        </p:nvSpPr>
        <p:spPr>
          <a:xfrm>
            <a:off x="365760" y="3794760"/>
            <a:ext cx="8412480" cy="713232"/>
          </a:xfrm>
          <a:prstGeom prst="roundRect">
            <a:avLst>
              <a:gd name="adj" fmla="val 12821"/>
            </a:avLst>
          </a:prstGeom>
          <a:solidFill>
            <a:srgbClr val="131C2E"/>
          </a:solidFill>
          <a:ln w="6350">
            <a:solidFill>
              <a:srgbClr val="1E3A5F"/>
            </a:solidFill>
            <a:prstDash val="solid"/>
          </a:ln>
        </p:spPr>
      </p:sp>
      <p:sp>
        <p:nvSpPr>
          <p:cNvPr id="20" name="Shape 18"/>
          <p:cNvSpPr/>
          <p:nvPr/>
        </p:nvSpPr>
        <p:spPr>
          <a:xfrm>
            <a:off x="502920" y="3922776"/>
            <a:ext cx="457200" cy="457200"/>
          </a:xfrm>
          <a:prstGeom prst="ellipse">
            <a:avLst/>
          </a:prstGeom>
          <a:solidFill>
            <a:srgbClr val="FDA4AF">
              <a:alpha val="40000"/>
            </a:srgbClr>
          </a:solidFill>
          <a:ln w="6350">
            <a:solidFill>
              <a:srgbClr val="FDA4AF"/>
            </a:solidFill>
            <a:prstDash val="solid"/>
          </a:ln>
        </p:spPr>
      </p:sp>
      <p:sp>
        <p:nvSpPr>
          <p:cNvPr id="21" name="Text 19"/>
          <p:cNvSpPr/>
          <p:nvPr/>
        </p:nvSpPr>
        <p:spPr>
          <a:xfrm>
            <a:off x="502920" y="3922776"/>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078992" y="3886200"/>
            <a:ext cx="2743200" cy="256032"/>
          </a:xfrm>
          <a:prstGeom prst="rect">
            <a:avLst/>
          </a:prstGeom>
          <a:noFill/>
          <a:ln/>
        </p:spPr>
        <p:txBody>
          <a:bodyPr wrap="square" lIns="0" tIns="0" rIns="0" bIns="0" rtlCol="0" anchor="ctr"/>
          <a:lstStyle/>
          <a:p>
            <a:pPr algn="l" indent="0" marL="0">
              <a:buNone/>
            </a:pPr>
            <a:r>
              <a:rPr lang="en-US" sz="1200" b="1" dirty="0">
                <a:solidFill>
                  <a:srgbClr val="FDA4AF"/>
                </a:solidFill>
                <a:latin typeface="Calibri" pitchFamily="34" charset="0"/>
                <a:ea typeface="Calibri" pitchFamily="34" charset="-122"/>
                <a:cs typeface="Calibri" pitchFamily="34" charset="-120"/>
              </a:rPr>
              <a:t>Test in multiple browsers</a:t>
            </a:r>
            <a:endParaRPr lang="en-US" sz="1200" dirty="0"/>
          </a:p>
        </p:txBody>
      </p:sp>
      <p:sp>
        <p:nvSpPr>
          <p:cNvPr id="23" name="Text 21"/>
          <p:cNvSpPr/>
          <p:nvPr/>
        </p:nvSpPr>
        <p:spPr>
          <a:xfrm>
            <a:off x="1078992" y="4160520"/>
            <a:ext cx="7223760" cy="256032"/>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Some CSS animations behaved differently in Firefox vs Chrome. Testing earlier across browsers would have saved last-minute debugging time.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400800" y="2286000"/>
            <a:ext cx="2743200" cy="2743200"/>
          </a:xfrm>
          <a:prstGeom prst="ellipse">
            <a:avLst/>
          </a:prstGeom>
          <a:solidFill>
            <a:srgbClr val="7C3AED">
              <a:alpha val="18000"/>
            </a:srgbClr>
          </a:solidFill>
          <a:ln w="12700">
            <a:solidFill>
              <a:srgbClr val="7C3AED"/>
            </a:solidFill>
            <a:prstDash val="solid"/>
          </a:ln>
        </p:spPr>
      </p:sp>
      <p:sp>
        <p:nvSpPr>
          <p:cNvPr id="3" name="Text 1"/>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800" b="1" dirty="0">
                <a:solidFill>
                  <a:srgbClr val="F1F5F9"/>
                </a:solidFill>
                <a:latin typeface="Calibri" pitchFamily="34" charset="0"/>
                <a:ea typeface="Calibri" pitchFamily="34" charset="-122"/>
                <a:cs typeface="Calibri" pitchFamily="34" charset="-120"/>
              </a:rPr>
              <a:t>What I want to explore next</a:t>
            </a:r>
            <a:endParaRPr lang="en-US" sz="2800" dirty="0"/>
          </a:p>
        </p:txBody>
      </p:sp>
      <p:sp>
        <p:nvSpPr>
          <p:cNvPr id="4" name="Shape 2"/>
          <p:cNvSpPr/>
          <p:nvPr/>
        </p:nvSpPr>
        <p:spPr>
          <a:xfrm>
            <a:off x="365760" y="1170432"/>
            <a:ext cx="8412480" cy="749808"/>
          </a:xfrm>
          <a:prstGeom prst="roundRect">
            <a:avLst>
              <a:gd name="adj" fmla="val 12195"/>
            </a:avLst>
          </a:prstGeom>
          <a:solidFill>
            <a:srgbClr val="131C2E"/>
          </a:solidFill>
          <a:ln w="6350">
            <a:solidFill>
              <a:srgbClr val="1E3A5F"/>
            </a:solidFill>
            <a:prstDash val="solid"/>
          </a:ln>
        </p:spPr>
      </p:sp>
      <p:sp>
        <p:nvSpPr>
          <p:cNvPr id="5" name="Shape 3"/>
          <p:cNvSpPr/>
          <p:nvPr/>
        </p:nvSpPr>
        <p:spPr>
          <a:xfrm>
            <a:off x="502920" y="1316736"/>
            <a:ext cx="457200" cy="457200"/>
          </a:xfrm>
          <a:prstGeom prst="ellipse">
            <a:avLst/>
          </a:prstGeom>
          <a:solidFill>
            <a:srgbClr val="C4B5FD">
              <a:alpha val="40000"/>
            </a:srgbClr>
          </a:solidFill>
          <a:ln w="6350">
            <a:solidFill>
              <a:srgbClr val="C4B5FD"/>
            </a:solidFill>
            <a:prstDash val="solid"/>
          </a:ln>
        </p:spPr>
      </p:sp>
      <p:sp>
        <p:nvSpPr>
          <p:cNvPr id="6" name="Text 4"/>
          <p:cNvSpPr/>
          <p:nvPr/>
        </p:nvSpPr>
        <p:spPr>
          <a:xfrm>
            <a:off x="502920" y="1316736"/>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078992" y="1261872"/>
            <a:ext cx="3657600" cy="256032"/>
          </a:xfrm>
          <a:prstGeom prst="rect">
            <a:avLst/>
          </a:prstGeom>
          <a:noFill/>
          <a:ln/>
        </p:spPr>
        <p:txBody>
          <a:bodyPr wrap="square" lIns="0" tIns="0" rIns="0" bIns="0" rtlCol="0" anchor="ctr"/>
          <a:lstStyle/>
          <a:p>
            <a:pPr algn="l" indent="0" marL="0">
              <a:buNone/>
            </a:pPr>
            <a:r>
              <a:rPr lang="en-US" sz="1200" b="1" dirty="0">
                <a:solidFill>
                  <a:srgbClr val="C4B5FD"/>
                </a:solidFill>
                <a:latin typeface="Calibri" pitchFamily="34" charset="0"/>
                <a:ea typeface="Calibri" pitchFamily="34" charset="-122"/>
                <a:cs typeface="Calibri" pitchFamily="34" charset="-120"/>
              </a:rPr>
              <a:t>RAG — Retrieval Augmented Generation</a:t>
            </a:r>
            <a:endParaRPr lang="en-US" sz="1200" dirty="0"/>
          </a:p>
        </p:txBody>
      </p:sp>
      <p:sp>
        <p:nvSpPr>
          <p:cNvPr id="8" name="Text 6"/>
          <p:cNvSpPr/>
          <p:nvPr/>
        </p:nvSpPr>
        <p:spPr>
          <a:xfrm>
            <a:off x="1078992" y="1536192"/>
            <a:ext cx="7223760" cy="27432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Store the user's health history as vector embeddings. The AI retrieves relevant past data before answering — so AURA can say 'your sleep was worst on Thursdays last month' instead of just giving generic advice.</a:t>
            </a:r>
            <a:endParaRPr lang="en-US" sz="950" dirty="0"/>
          </a:p>
        </p:txBody>
      </p:sp>
      <p:sp>
        <p:nvSpPr>
          <p:cNvPr id="9" name="Shape 7"/>
          <p:cNvSpPr/>
          <p:nvPr/>
        </p:nvSpPr>
        <p:spPr>
          <a:xfrm>
            <a:off x="365760" y="2066544"/>
            <a:ext cx="8412480" cy="749808"/>
          </a:xfrm>
          <a:prstGeom prst="roundRect">
            <a:avLst>
              <a:gd name="adj" fmla="val 12195"/>
            </a:avLst>
          </a:prstGeom>
          <a:solidFill>
            <a:srgbClr val="131C2E"/>
          </a:solidFill>
          <a:ln w="6350">
            <a:solidFill>
              <a:srgbClr val="1E3A5F"/>
            </a:solidFill>
            <a:prstDash val="solid"/>
          </a:ln>
        </p:spPr>
      </p:sp>
      <p:sp>
        <p:nvSpPr>
          <p:cNvPr id="10" name="Shape 8"/>
          <p:cNvSpPr/>
          <p:nvPr/>
        </p:nvSpPr>
        <p:spPr>
          <a:xfrm>
            <a:off x="502920" y="2212848"/>
            <a:ext cx="457200" cy="457200"/>
          </a:xfrm>
          <a:prstGeom prst="ellipse">
            <a:avLst/>
          </a:prstGeom>
          <a:solidFill>
            <a:srgbClr val="6EE7B7">
              <a:alpha val="40000"/>
            </a:srgbClr>
          </a:solidFill>
          <a:ln w="6350">
            <a:solidFill>
              <a:srgbClr val="6EE7B7"/>
            </a:solidFill>
            <a:prstDash val="solid"/>
          </a:ln>
        </p:spPr>
      </p:sp>
      <p:sp>
        <p:nvSpPr>
          <p:cNvPr id="11" name="Text 9"/>
          <p:cNvSpPr/>
          <p:nvPr/>
        </p:nvSpPr>
        <p:spPr>
          <a:xfrm>
            <a:off x="502920" y="2212848"/>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078992" y="2157984"/>
            <a:ext cx="3657600" cy="256032"/>
          </a:xfrm>
          <a:prstGeom prst="rect">
            <a:avLst/>
          </a:prstGeom>
          <a:noFill/>
          <a:ln/>
        </p:spPr>
        <p:txBody>
          <a:bodyPr wrap="square" lIns="0" tIns="0" rIns="0" bIns="0" rtlCol="0" anchor="ctr"/>
          <a:lstStyle/>
          <a:p>
            <a:pPr algn="l" indent="0" marL="0">
              <a:buNone/>
            </a:pPr>
            <a:r>
              <a:rPr lang="en-US" sz="1200" b="1" dirty="0">
                <a:solidFill>
                  <a:srgbClr val="6EE7B7"/>
                </a:solidFill>
                <a:latin typeface="Calibri" pitchFamily="34" charset="0"/>
                <a:ea typeface="Calibri" pitchFamily="34" charset="-122"/>
                <a:cs typeface="Calibri" pitchFamily="34" charset="-120"/>
              </a:rPr>
              <a:t>React Native — real mobile app</a:t>
            </a:r>
            <a:endParaRPr lang="en-US" sz="1200" dirty="0"/>
          </a:p>
        </p:txBody>
      </p:sp>
      <p:sp>
        <p:nvSpPr>
          <p:cNvPr id="13" name="Text 11"/>
          <p:cNvSpPr/>
          <p:nvPr/>
        </p:nvSpPr>
        <p:spPr>
          <a:xfrm>
            <a:off x="1078992" y="2432304"/>
            <a:ext cx="7223760" cy="27432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Convert AURA to a mobile app with access to native APIs — HealthKit (iOS) and Google Fit — for real step and sleep data without needing a separate wearable.</a:t>
            </a:r>
            <a:endParaRPr lang="en-US" sz="950" dirty="0"/>
          </a:p>
        </p:txBody>
      </p:sp>
      <p:sp>
        <p:nvSpPr>
          <p:cNvPr id="14" name="Shape 12"/>
          <p:cNvSpPr/>
          <p:nvPr/>
        </p:nvSpPr>
        <p:spPr>
          <a:xfrm>
            <a:off x="365760" y="2962656"/>
            <a:ext cx="8412480" cy="749808"/>
          </a:xfrm>
          <a:prstGeom prst="roundRect">
            <a:avLst>
              <a:gd name="adj" fmla="val 12195"/>
            </a:avLst>
          </a:prstGeom>
          <a:solidFill>
            <a:srgbClr val="131C2E"/>
          </a:solidFill>
          <a:ln w="6350">
            <a:solidFill>
              <a:srgbClr val="1E3A5F"/>
            </a:solidFill>
            <a:prstDash val="solid"/>
          </a:ln>
        </p:spPr>
      </p:sp>
      <p:sp>
        <p:nvSpPr>
          <p:cNvPr id="15" name="Shape 13"/>
          <p:cNvSpPr/>
          <p:nvPr/>
        </p:nvSpPr>
        <p:spPr>
          <a:xfrm>
            <a:off x="502920" y="3108960"/>
            <a:ext cx="457200" cy="457200"/>
          </a:xfrm>
          <a:prstGeom prst="ellipse">
            <a:avLst/>
          </a:prstGeom>
          <a:solidFill>
            <a:srgbClr val="FCD34D">
              <a:alpha val="40000"/>
            </a:srgbClr>
          </a:solidFill>
          <a:ln w="6350">
            <a:solidFill>
              <a:srgbClr val="FCD34D"/>
            </a:solidFill>
            <a:prstDash val="solid"/>
          </a:ln>
        </p:spPr>
      </p:sp>
      <p:sp>
        <p:nvSpPr>
          <p:cNvPr id="16" name="Text 14"/>
          <p:cNvSpPr/>
          <p:nvPr/>
        </p:nvSpPr>
        <p:spPr>
          <a:xfrm>
            <a:off x="502920" y="3108960"/>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078992" y="3054096"/>
            <a:ext cx="3657600" cy="256032"/>
          </a:xfrm>
          <a:prstGeom prst="rect">
            <a:avLst/>
          </a:prstGeom>
          <a:noFill/>
          <a:ln/>
        </p:spPr>
        <p:txBody>
          <a:bodyPr wrap="square" lIns="0" tIns="0" rIns="0" bIns="0" rtlCol="0" anchor="ctr"/>
          <a:lstStyle/>
          <a:p>
            <a:pPr algn="l" indent="0" marL="0">
              <a:buNone/>
            </a:pPr>
            <a:r>
              <a:rPr lang="en-US" sz="1200" b="1" dirty="0">
                <a:solidFill>
                  <a:srgbClr val="FCD34D"/>
                </a:solidFill>
                <a:latin typeface="Calibri" pitchFamily="34" charset="0"/>
                <a:ea typeface="Calibri" pitchFamily="34" charset="-122"/>
                <a:cs typeface="Calibri" pitchFamily="34" charset="-120"/>
              </a:rPr>
              <a:t>Fine-tuned wellness model</a:t>
            </a:r>
            <a:endParaRPr lang="en-US" sz="1200" dirty="0"/>
          </a:p>
        </p:txBody>
      </p:sp>
      <p:sp>
        <p:nvSpPr>
          <p:cNvPr id="18" name="Text 16"/>
          <p:cNvSpPr/>
          <p:nvPr/>
        </p:nvSpPr>
        <p:spPr>
          <a:xfrm>
            <a:off x="1078992" y="3328416"/>
            <a:ext cx="7223760" cy="27432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Train a smaller LLM specifically on wellness counselling conversations. My ML and LLM background makes this a natural next step — a purpose-built model for this exact domain.</a:t>
            </a:r>
            <a:endParaRPr lang="en-US" sz="950" dirty="0"/>
          </a:p>
        </p:txBody>
      </p:sp>
      <p:sp>
        <p:nvSpPr>
          <p:cNvPr id="19" name="Shape 17"/>
          <p:cNvSpPr/>
          <p:nvPr/>
        </p:nvSpPr>
        <p:spPr>
          <a:xfrm>
            <a:off x="365760" y="3858768"/>
            <a:ext cx="8412480" cy="749808"/>
          </a:xfrm>
          <a:prstGeom prst="roundRect">
            <a:avLst>
              <a:gd name="adj" fmla="val 12195"/>
            </a:avLst>
          </a:prstGeom>
          <a:solidFill>
            <a:srgbClr val="131C2E"/>
          </a:solidFill>
          <a:ln w="6350">
            <a:solidFill>
              <a:srgbClr val="1E3A5F"/>
            </a:solidFill>
            <a:prstDash val="solid"/>
          </a:ln>
        </p:spPr>
      </p:sp>
      <p:sp>
        <p:nvSpPr>
          <p:cNvPr id="20" name="Shape 18"/>
          <p:cNvSpPr/>
          <p:nvPr/>
        </p:nvSpPr>
        <p:spPr>
          <a:xfrm>
            <a:off x="502920" y="4005072"/>
            <a:ext cx="457200" cy="457200"/>
          </a:xfrm>
          <a:prstGeom prst="ellipse">
            <a:avLst/>
          </a:prstGeom>
          <a:solidFill>
            <a:srgbClr val="FDA4AF">
              <a:alpha val="40000"/>
            </a:srgbClr>
          </a:solidFill>
          <a:ln w="6350">
            <a:solidFill>
              <a:srgbClr val="FDA4AF"/>
            </a:solidFill>
            <a:prstDash val="solid"/>
          </a:ln>
        </p:spPr>
      </p:sp>
      <p:sp>
        <p:nvSpPr>
          <p:cNvPr id="21" name="Text 19"/>
          <p:cNvSpPr/>
          <p:nvPr/>
        </p:nvSpPr>
        <p:spPr>
          <a:xfrm>
            <a:off x="502920" y="4005072"/>
            <a:ext cx="457200" cy="457200"/>
          </a:xfrm>
          <a:prstGeom prst="rect">
            <a:avLst/>
          </a:prstGeom>
          <a:noFill/>
          <a:ln/>
        </p:spPr>
        <p:txBody>
          <a:bodyPr wrap="square" lIns="0" tIns="0" rIns="0" bIns="0" rtlCol="0" anchor="ctr"/>
          <a:lstStyle/>
          <a:p>
            <a:pPr algn="ctr" indent="0" marL="0">
              <a:buNone/>
            </a:pPr>
            <a:r>
              <a:rPr lang="en-US" sz="1400" dirty="0">
                <a:solidFill>
                  <a:srgbClr val="F1F5F9"/>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078992" y="3950208"/>
            <a:ext cx="3657600" cy="256032"/>
          </a:xfrm>
          <a:prstGeom prst="rect">
            <a:avLst/>
          </a:prstGeom>
          <a:noFill/>
          <a:ln/>
        </p:spPr>
        <p:txBody>
          <a:bodyPr wrap="square" lIns="0" tIns="0" rIns="0" bIns="0" rtlCol="0" anchor="ctr"/>
          <a:lstStyle/>
          <a:p>
            <a:pPr algn="l" indent="0" marL="0">
              <a:buNone/>
            </a:pPr>
            <a:r>
              <a:rPr lang="en-US" sz="1200" b="1" dirty="0">
                <a:solidFill>
                  <a:srgbClr val="FDA4AF"/>
                </a:solidFill>
                <a:latin typeface="Calibri" pitchFamily="34" charset="0"/>
                <a:ea typeface="Calibri" pitchFamily="34" charset="-122"/>
                <a:cs typeface="Calibri" pitchFamily="34" charset="-120"/>
              </a:rPr>
              <a:t>Real wearable integrations</a:t>
            </a:r>
            <a:endParaRPr lang="en-US" sz="1200" dirty="0"/>
          </a:p>
        </p:txBody>
      </p:sp>
      <p:sp>
        <p:nvSpPr>
          <p:cNvPr id="23" name="Text 21"/>
          <p:cNvSpPr/>
          <p:nvPr/>
        </p:nvSpPr>
        <p:spPr>
          <a:xfrm>
            <a:off x="1078992" y="4224528"/>
            <a:ext cx="7223760" cy="27432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Connect to the WHOOP and Apple Watch APIs for live biometric data. This is the full AURA vision — an AI that knows your body and your mind simultaneously.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57200" y="-457200"/>
            <a:ext cx="3200400" cy="3200400"/>
          </a:xfrm>
          <a:prstGeom prst="ellipse">
            <a:avLst/>
          </a:prstGeom>
          <a:solidFill>
            <a:srgbClr val="7C3AED">
              <a:alpha val="22000"/>
            </a:srgbClr>
          </a:solidFill>
          <a:ln w="12700">
            <a:solidFill>
              <a:srgbClr val="7C3AED"/>
            </a:solidFill>
            <a:prstDash val="solid"/>
          </a:ln>
        </p:spPr>
      </p:sp>
      <p:sp>
        <p:nvSpPr>
          <p:cNvPr id="3" name="Shape 1"/>
          <p:cNvSpPr/>
          <p:nvPr/>
        </p:nvSpPr>
        <p:spPr>
          <a:xfrm>
            <a:off x="7315200" y="3200400"/>
            <a:ext cx="2743200" cy="2743200"/>
          </a:xfrm>
          <a:prstGeom prst="ellipse">
            <a:avLst/>
          </a:prstGeom>
          <a:solidFill>
            <a:srgbClr val="059669">
              <a:alpha val="20000"/>
            </a:srgbClr>
          </a:solidFill>
          <a:ln w="12700">
            <a:solidFill>
              <a:srgbClr val="059669"/>
            </a:solidFill>
            <a:prstDash val="solid"/>
          </a:ln>
        </p:spPr>
      </p:sp>
      <p:sp>
        <p:nvSpPr>
          <p:cNvPr id="4" name="Shape 2"/>
          <p:cNvSpPr/>
          <p:nvPr/>
        </p:nvSpPr>
        <p:spPr>
          <a:xfrm>
            <a:off x="3657600" y="1371600"/>
            <a:ext cx="1828800" cy="1828800"/>
          </a:xfrm>
          <a:prstGeom prst="ellipse">
            <a:avLst/>
          </a:prstGeom>
          <a:solidFill>
            <a:srgbClr val="D97706">
              <a:alpha val="12000"/>
            </a:srgbClr>
          </a:solidFill>
          <a:ln w="12700">
            <a:solidFill>
              <a:srgbClr val="D97706"/>
            </a:solidFill>
            <a:prstDash val="solid"/>
          </a:ln>
        </p:spPr>
      </p:sp>
      <p:sp>
        <p:nvSpPr>
          <p:cNvPr id="5" name="Text 3"/>
          <p:cNvSpPr/>
          <p:nvPr/>
        </p:nvSpPr>
        <p:spPr>
          <a:xfrm>
            <a:off x="914400" y="1097280"/>
            <a:ext cx="7315200" cy="822960"/>
          </a:xfrm>
          <a:prstGeom prst="rect">
            <a:avLst/>
          </a:prstGeom>
          <a:noFill/>
          <a:ln/>
        </p:spPr>
        <p:txBody>
          <a:bodyPr wrap="square" lIns="0" tIns="0" rIns="0" bIns="0" rtlCol="0" anchor="ctr"/>
          <a:lstStyle/>
          <a:p>
            <a:pPr algn="ctr" indent="0" marL="0">
              <a:buNone/>
            </a:pPr>
            <a:r>
              <a:rPr lang="en-US" sz="6000" b="1" dirty="0">
                <a:solidFill>
                  <a:srgbClr val="C4B5FD"/>
                </a:solidFill>
                <a:latin typeface="Calibri" pitchFamily="34" charset="0"/>
                <a:ea typeface="Calibri" pitchFamily="34" charset="-122"/>
                <a:cs typeface="Calibri" pitchFamily="34" charset="-120"/>
              </a:rPr>
              <a:t>AURA</a:t>
            </a:r>
            <a:endParaRPr lang="en-US" sz="6000" dirty="0"/>
          </a:p>
        </p:txBody>
      </p:sp>
      <p:sp>
        <p:nvSpPr>
          <p:cNvPr id="6" name="Text 4"/>
          <p:cNvSpPr/>
          <p:nvPr/>
        </p:nvSpPr>
        <p:spPr>
          <a:xfrm>
            <a:off x="914400" y="1920240"/>
            <a:ext cx="7315200" cy="365760"/>
          </a:xfrm>
          <a:prstGeom prst="rect">
            <a:avLst/>
          </a:prstGeom>
          <a:noFill/>
          <a:ln/>
        </p:spPr>
        <p:txBody>
          <a:bodyPr wrap="square" lIns="0" tIns="0" rIns="0" bIns="0" rtlCol="0" anchor="ctr"/>
          <a:lstStyle/>
          <a:p>
            <a:pPr algn="ctr" indent="0" marL="0">
              <a:buNone/>
            </a:pPr>
            <a:r>
              <a:rPr lang="en-US" sz="1600" i="1" dirty="0">
                <a:solidFill>
                  <a:srgbClr val="F1F5F9"/>
                </a:solidFill>
                <a:latin typeface="Calibri" pitchFamily="34" charset="0"/>
                <a:ea typeface="Calibri" pitchFamily="34" charset="-122"/>
                <a:cs typeface="Calibri" pitchFamily="34" charset="-120"/>
              </a:rPr>
              <a:t>One app for your whole wellness journey</a:t>
            </a:r>
            <a:endParaRPr lang="en-US" sz="1600" dirty="0"/>
          </a:p>
        </p:txBody>
      </p:sp>
      <p:sp>
        <p:nvSpPr>
          <p:cNvPr id="7" name="Shape 5"/>
          <p:cNvSpPr/>
          <p:nvPr/>
        </p:nvSpPr>
        <p:spPr>
          <a:xfrm>
            <a:off x="640080" y="2514600"/>
            <a:ext cx="1828800" cy="1005840"/>
          </a:xfrm>
          <a:prstGeom prst="roundRect">
            <a:avLst>
              <a:gd name="adj" fmla="val 10909"/>
            </a:avLst>
          </a:prstGeom>
          <a:solidFill>
            <a:srgbClr val="131C2E"/>
          </a:solidFill>
          <a:ln w="6350">
            <a:solidFill>
              <a:srgbClr val="1E3A5F"/>
            </a:solidFill>
            <a:prstDash val="solid"/>
          </a:ln>
        </p:spPr>
      </p:sp>
      <p:sp>
        <p:nvSpPr>
          <p:cNvPr id="8" name="Text 6"/>
          <p:cNvSpPr/>
          <p:nvPr/>
        </p:nvSpPr>
        <p:spPr>
          <a:xfrm>
            <a:off x="640080" y="2587752"/>
            <a:ext cx="1828800" cy="548640"/>
          </a:xfrm>
          <a:prstGeom prst="rect">
            <a:avLst/>
          </a:prstGeom>
          <a:noFill/>
          <a:ln/>
        </p:spPr>
        <p:txBody>
          <a:bodyPr wrap="square" lIns="0" tIns="0" rIns="0" bIns="0" rtlCol="0" anchor="ctr"/>
          <a:lstStyle/>
          <a:p>
            <a:pPr algn="ctr" indent="0" marL="0">
              <a:buNone/>
            </a:pPr>
            <a:r>
              <a:rPr lang="en-US" sz="3200" b="1" dirty="0">
                <a:solidFill>
                  <a:srgbClr val="C4B5FD"/>
                </a:solidFill>
                <a:latin typeface="Calibri" pitchFamily="34" charset="0"/>
                <a:ea typeface="Calibri" pitchFamily="34" charset="-122"/>
                <a:cs typeface="Calibri" pitchFamily="34" charset="-120"/>
              </a:rPr>
              <a:t>15</a:t>
            </a:r>
            <a:endParaRPr lang="en-US" sz="3200" dirty="0"/>
          </a:p>
        </p:txBody>
      </p:sp>
      <p:sp>
        <p:nvSpPr>
          <p:cNvPr id="9" name="Text 7"/>
          <p:cNvSpPr/>
          <p:nvPr/>
        </p:nvSpPr>
        <p:spPr>
          <a:xfrm>
            <a:off x="640080" y="3136392"/>
            <a:ext cx="1828800" cy="310896"/>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Required Skills</a:t>
            </a:r>
            <a:endParaRPr lang="en-US" sz="1000" dirty="0"/>
          </a:p>
        </p:txBody>
      </p:sp>
      <p:sp>
        <p:nvSpPr>
          <p:cNvPr id="10" name="Shape 8"/>
          <p:cNvSpPr/>
          <p:nvPr/>
        </p:nvSpPr>
        <p:spPr>
          <a:xfrm>
            <a:off x="2606040" y="2514600"/>
            <a:ext cx="1828800" cy="1005840"/>
          </a:xfrm>
          <a:prstGeom prst="roundRect">
            <a:avLst>
              <a:gd name="adj" fmla="val 10909"/>
            </a:avLst>
          </a:prstGeom>
          <a:solidFill>
            <a:srgbClr val="131C2E"/>
          </a:solidFill>
          <a:ln w="6350">
            <a:solidFill>
              <a:srgbClr val="1E3A5F"/>
            </a:solidFill>
            <a:prstDash val="solid"/>
          </a:ln>
        </p:spPr>
      </p:sp>
      <p:sp>
        <p:nvSpPr>
          <p:cNvPr id="11" name="Text 9"/>
          <p:cNvSpPr/>
          <p:nvPr/>
        </p:nvSpPr>
        <p:spPr>
          <a:xfrm>
            <a:off x="2606040" y="2587752"/>
            <a:ext cx="1828800" cy="548640"/>
          </a:xfrm>
          <a:prstGeom prst="rect">
            <a:avLst/>
          </a:prstGeom>
          <a:noFill/>
          <a:ln/>
        </p:spPr>
        <p:txBody>
          <a:bodyPr wrap="square" lIns="0" tIns="0" rIns="0" bIns="0" rtlCol="0" anchor="ctr"/>
          <a:lstStyle/>
          <a:p>
            <a:pPr algn="ctr" indent="0" marL="0">
              <a:buNone/>
            </a:pPr>
            <a:r>
              <a:rPr lang="en-US" sz="3200" b="1" dirty="0">
                <a:solidFill>
                  <a:srgbClr val="6EE7B7"/>
                </a:solidFill>
                <a:latin typeface="Calibri" pitchFamily="34" charset="0"/>
                <a:ea typeface="Calibri" pitchFamily="34" charset="-122"/>
                <a:cs typeface="Calibri" pitchFamily="34" charset="-120"/>
              </a:rPr>
              <a:t>4</a:t>
            </a:r>
            <a:endParaRPr lang="en-US" sz="3200" dirty="0"/>
          </a:p>
        </p:txBody>
      </p:sp>
      <p:sp>
        <p:nvSpPr>
          <p:cNvPr id="12" name="Text 10"/>
          <p:cNvSpPr/>
          <p:nvPr/>
        </p:nvSpPr>
        <p:spPr>
          <a:xfrm>
            <a:off x="2606040" y="3136392"/>
            <a:ext cx="1828800" cy="310896"/>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Bonus Skills</a:t>
            </a:r>
            <a:endParaRPr lang="en-US" sz="1000" dirty="0"/>
          </a:p>
        </p:txBody>
      </p:sp>
      <p:sp>
        <p:nvSpPr>
          <p:cNvPr id="13" name="Shape 11"/>
          <p:cNvSpPr/>
          <p:nvPr/>
        </p:nvSpPr>
        <p:spPr>
          <a:xfrm>
            <a:off x="4572000" y="2514600"/>
            <a:ext cx="1828800" cy="1005840"/>
          </a:xfrm>
          <a:prstGeom prst="roundRect">
            <a:avLst>
              <a:gd name="adj" fmla="val 10909"/>
            </a:avLst>
          </a:prstGeom>
          <a:solidFill>
            <a:srgbClr val="131C2E"/>
          </a:solidFill>
          <a:ln w="6350">
            <a:solidFill>
              <a:srgbClr val="1E3A5F"/>
            </a:solidFill>
            <a:prstDash val="solid"/>
          </a:ln>
        </p:spPr>
      </p:sp>
      <p:sp>
        <p:nvSpPr>
          <p:cNvPr id="14" name="Text 12"/>
          <p:cNvSpPr/>
          <p:nvPr/>
        </p:nvSpPr>
        <p:spPr>
          <a:xfrm>
            <a:off x="4572000" y="2587752"/>
            <a:ext cx="1828800" cy="548640"/>
          </a:xfrm>
          <a:prstGeom prst="rect">
            <a:avLst/>
          </a:prstGeom>
          <a:noFill/>
          <a:ln/>
        </p:spPr>
        <p:txBody>
          <a:bodyPr wrap="square" lIns="0" tIns="0" rIns="0" bIns="0" rtlCol="0" anchor="ctr"/>
          <a:lstStyle/>
          <a:p>
            <a:pPr algn="ctr" indent="0" marL="0">
              <a:buNone/>
            </a:pPr>
            <a:r>
              <a:rPr lang="en-US" sz="3200" b="1" dirty="0">
                <a:solidFill>
                  <a:srgbClr val="FCD34D"/>
                </a:solidFill>
                <a:latin typeface="Calibri" pitchFamily="34" charset="0"/>
                <a:ea typeface="Calibri" pitchFamily="34" charset="-122"/>
                <a:cs typeface="Calibri" pitchFamily="34" charset="-120"/>
              </a:rPr>
              <a:t>5</a:t>
            </a:r>
            <a:endParaRPr lang="en-US" sz="3200" dirty="0"/>
          </a:p>
        </p:txBody>
      </p:sp>
      <p:sp>
        <p:nvSpPr>
          <p:cNvPr id="15" name="Text 13"/>
          <p:cNvSpPr/>
          <p:nvPr/>
        </p:nvSpPr>
        <p:spPr>
          <a:xfrm>
            <a:off x="4572000" y="3136392"/>
            <a:ext cx="1828800" cy="310896"/>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App Screens</a:t>
            </a:r>
            <a:endParaRPr lang="en-US" sz="1000" dirty="0"/>
          </a:p>
        </p:txBody>
      </p:sp>
      <p:sp>
        <p:nvSpPr>
          <p:cNvPr id="16" name="Shape 14"/>
          <p:cNvSpPr/>
          <p:nvPr/>
        </p:nvSpPr>
        <p:spPr>
          <a:xfrm>
            <a:off x="6537960" y="2514600"/>
            <a:ext cx="1828800" cy="1005840"/>
          </a:xfrm>
          <a:prstGeom prst="roundRect">
            <a:avLst>
              <a:gd name="adj" fmla="val 10909"/>
            </a:avLst>
          </a:prstGeom>
          <a:solidFill>
            <a:srgbClr val="131C2E"/>
          </a:solidFill>
          <a:ln w="6350">
            <a:solidFill>
              <a:srgbClr val="1E3A5F"/>
            </a:solidFill>
            <a:prstDash val="solid"/>
          </a:ln>
        </p:spPr>
      </p:sp>
      <p:sp>
        <p:nvSpPr>
          <p:cNvPr id="17" name="Text 15"/>
          <p:cNvSpPr/>
          <p:nvPr/>
        </p:nvSpPr>
        <p:spPr>
          <a:xfrm>
            <a:off x="6537960" y="2587752"/>
            <a:ext cx="1828800" cy="548640"/>
          </a:xfrm>
          <a:prstGeom prst="rect">
            <a:avLst/>
          </a:prstGeom>
          <a:noFill/>
          <a:ln/>
        </p:spPr>
        <p:txBody>
          <a:bodyPr wrap="square" lIns="0" tIns="0" rIns="0" bIns="0" rtlCol="0" anchor="ctr"/>
          <a:lstStyle/>
          <a:p>
            <a:pPr algn="ctr" indent="0" marL="0">
              <a:buNone/>
            </a:pPr>
            <a:r>
              <a:rPr lang="en-US" sz="3200" b="1" dirty="0">
                <a:solidFill>
                  <a:srgbClr val="FDA4AF"/>
                </a:solidFill>
                <a:latin typeface="Calibri" pitchFamily="34" charset="0"/>
                <a:ea typeface="Calibri" pitchFamily="34" charset="-122"/>
                <a:cs typeface="Calibri" pitchFamily="34" charset="-120"/>
              </a:rPr>
              <a:t>6</a:t>
            </a:r>
            <a:endParaRPr lang="en-US" sz="3200" dirty="0"/>
          </a:p>
        </p:txBody>
      </p:sp>
      <p:sp>
        <p:nvSpPr>
          <p:cNvPr id="18" name="Text 16"/>
          <p:cNvSpPr/>
          <p:nvPr/>
        </p:nvSpPr>
        <p:spPr>
          <a:xfrm>
            <a:off x="6537960" y="3136392"/>
            <a:ext cx="1828800" cy="310896"/>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Devices Supported</a:t>
            </a:r>
            <a:endParaRPr lang="en-US" sz="1000" dirty="0"/>
          </a:p>
        </p:txBody>
      </p:sp>
      <p:sp>
        <p:nvSpPr>
          <p:cNvPr id="19" name="Text 17"/>
          <p:cNvSpPr/>
          <p:nvPr/>
        </p:nvSpPr>
        <p:spPr>
          <a:xfrm>
            <a:off x="914400" y="3749040"/>
            <a:ext cx="73152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Built with HTML · CSS · Vanilla JavaScript — no frameworks</a:t>
            </a:r>
            <a:endParaRPr lang="en-US" sz="1100" dirty="0"/>
          </a:p>
        </p:txBody>
      </p:sp>
      <p:sp>
        <p:nvSpPr>
          <p:cNvPr id="20" name="Shape 18"/>
          <p:cNvSpPr/>
          <p:nvPr/>
        </p:nvSpPr>
        <p:spPr>
          <a:xfrm>
            <a:off x="2926080" y="4187952"/>
            <a:ext cx="3291840" cy="658368"/>
          </a:xfrm>
          <a:prstGeom prst="roundRect">
            <a:avLst>
              <a:gd name="adj" fmla="val 19444"/>
            </a:avLst>
          </a:prstGeom>
          <a:solidFill>
            <a:srgbClr val="7C3AED"/>
          </a:solidFill>
          <a:ln w="6350">
            <a:solidFill>
              <a:srgbClr val="C4B5FD"/>
            </a:solidFill>
            <a:prstDash val="solid"/>
          </a:ln>
        </p:spPr>
      </p:sp>
      <p:sp>
        <p:nvSpPr>
          <p:cNvPr id="21" name="Text 19"/>
          <p:cNvSpPr/>
          <p:nvPr/>
        </p:nvSpPr>
        <p:spPr>
          <a:xfrm>
            <a:off x="2926080" y="4187952"/>
            <a:ext cx="3291840" cy="658368"/>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Thank you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AURA — Final Project Presentation</dc:title>
  <dc:subject>PptxGenJS Presentation</dc:subject>
  <dc:creator>PptxGenJS</dc:creator>
  <cp:lastModifiedBy>PptxGenJS</cp:lastModifiedBy>
  <cp:revision>1</cp:revision>
  <dcterms:created xsi:type="dcterms:W3CDTF">2026-07-07T20:00:12Z</dcterms:created>
  <dcterms:modified xsi:type="dcterms:W3CDTF">2026-07-07T20:00:12Z</dcterms:modified>
</cp:coreProperties>
</file>